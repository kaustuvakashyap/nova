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6" r:id="rId1"/>
  </p:sldMasterIdLst>
  <p:notesMasterIdLst>
    <p:notesMasterId r:id="rId16"/>
  </p:notesMasterIdLst>
  <p:sldIdLst>
    <p:sldId id="256" r:id="rId2"/>
    <p:sldId id="257" r:id="rId3"/>
    <p:sldId id="258" r:id="rId4"/>
    <p:sldId id="259" r:id="rId5"/>
    <p:sldId id="260" r:id="rId6"/>
    <p:sldId id="261" r:id="rId7"/>
    <p:sldId id="263" r:id="rId8"/>
    <p:sldId id="264" r:id="rId9"/>
    <p:sldId id="265" r:id="rId10"/>
    <p:sldId id="266" r:id="rId11"/>
    <p:sldId id="262" r:id="rId12"/>
    <p:sldId id="270" r:id="rId13"/>
    <p:sldId id="267" r:id="rId14"/>
    <p:sldId id="269"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7" d="100"/>
          <a:sy n="67" d="100"/>
        </p:scale>
        <p:origin x="-1476"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55" d="100"/>
          <a:sy n="55" d="100"/>
        </p:scale>
        <p:origin x="-2856" y="-78"/>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710FDA4-CFA0-4EA6-8346-14A4F2C9E42C}" type="datetimeFigureOut">
              <a:rPr lang="en-US" smtClean="0"/>
              <a:t>6/6/2026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170B2F-BB4D-4E79-80AF-1A882E5CD39E}"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3170B2F-BB4D-4E79-80AF-1A882E5CD39E}"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3170B2F-BB4D-4E79-80AF-1A882E5CD39E}" type="slidenum">
              <a:rPr lang="en-US" smtClean="0"/>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3170B2F-BB4D-4E79-80AF-1A882E5CD39E}" type="slidenum">
              <a:rPr lang="en-US" smtClean="0"/>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3170B2F-BB4D-4E79-80AF-1A882E5CD39E}" type="slidenum">
              <a:rPr lang="en-US" smtClean="0"/>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3170B2F-BB4D-4E79-80AF-1A882E5CD39E}" type="slidenum">
              <a:rPr lang="en-US" smtClean="0"/>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3170B2F-BB4D-4E79-80AF-1A882E5CD39E}" type="slidenum">
              <a:rPr lang="en-US" smtClean="0"/>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3170B2F-BB4D-4E79-80AF-1A882E5CD39E}" type="slidenum">
              <a:rPr lang="en-US" smtClean="0"/>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3170B2F-BB4D-4E79-80AF-1A882E5CD39E}" type="slidenum">
              <a:rPr lang="en-US" smtClean="0"/>
              <a:t>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FB39E1A-22D0-4B75-84FB-2F84A5C3FC15}" type="datetimeFigureOut">
              <a:rPr lang="en-US" smtClean="0"/>
              <a:t>6/6/2026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D3C5EE-A2B0-477A-BBB9-6E45D8717AB4}" type="slidenum">
              <a:rPr lang="en-US" smtClean="0"/>
              <a:t>‹#›</a:t>
            </a:fld>
            <a:endParaRPr lang="en-US"/>
          </a:p>
        </p:txBody>
      </p:sp>
    </p:spTree>
  </p:cSld>
  <p:clrMapOvr>
    <a:masterClrMapping/>
  </p:clrMapOvr>
  <p:transition>
    <p:fad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FB39E1A-22D0-4B75-84FB-2F84A5C3FC15}" type="datetimeFigureOut">
              <a:rPr lang="en-US" smtClean="0"/>
              <a:t>6/6/2026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D3C5EE-A2B0-477A-BBB9-6E45D8717AB4}" type="slidenum">
              <a:rPr lang="en-US" smtClean="0"/>
              <a:t>‹#›</a:t>
            </a:fld>
            <a:endParaRPr lang="en-US"/>
          </a:p>
        </p:txBody>
      </p:sp>
    </p:spTree>
  </p:cSld>
  <p:clrMapOvr>
    <a:masterClrMapping/>
  </p:clrMapOvr>
  <p:transition>
    <p:fade/>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FB39E1A-22D0-4B75-84FB-2F84A5C3FC15}" type="datetimeFigureOut">
              <a:rPr lang="en-US" smtClean="0"/>
              <a:t>6/6/2026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D3C5EE-A2B0-477A-BBB9-6E45D8717AB4}" type="slidenum">
              <a:rPr lang="en-US" smtClean="0"/>
              <a:t>‹#›</a:t>
            </a:fld>
            <a:endParaRPr lang="en-US"/>
          </a:p>
        </p:txBody>
      </p:sp>
    </p:spTree>
  </p:cSld>
  <p:clrMapOvr>
    <a:masterClrMapping/>
  </p:clrMapOvr>
  <p:transition>
    <p:fad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FB39E1A-22D0-4B75-84FB-2F84A5C3FC15}" type="datetimeFigureOut">
              <a:rPr lang="en-US" smtClean="0"/>
              <a:t>6/6/2026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D3C5EE-A2B0-477A-BBB9-6E45D8717AB4}" type="slidenum">
              <a:rPr lang="en-US" smtClean="0"/>
              <a:t>‹#›</a:t>
            </a:fld>
            <a:endParaRPr lang="en-US"/>
          </a:p>
        </p:txBody>
      </p:sp>
    </p:spTree>
  </p:cSld>
  <p:clrMapOvr>
    <a:masterClrMapping/>
  </p:clrMapOvr>
  <p:transition>
    <p:fade/>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FB39E1A-22D0-4B75-84FB-2F84A5C3FC15}" type="datetimeFigureOut">
              <a:rPr lang="en-US" smtClean="0"/>
              <a:t>6/6/2026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3D3C5EE-A2B0-477A-BBB9-6E45D8717AB4}" type="slidenum">
              <a:rPr lang="en-US" smtClean="0"/>
              <a:t>‹#›</a:t>
            </a:fld>
            <a:endParaRPr lang="en-US"/>
          </a:p>
        </p:txBody>
      </p:sp>
    </p:spTree>
  </p:cSld>
  <p:clrMapOvr>
    <a:masterClrMapping/>
  </p:clrMapOvr>
  <p:transition>
    <p:fade/>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FB39E1A-22D0-4B75-84FB-2F84A5C3FC15}" type="datetimeFigureOut">
              <a:rPr lang="en-US" smtClean="0"/>
              <a:t>6/6/2026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D3C5EE-A2B0-477A-BBB9-6E45D8717AB4}" type="slidenum">
              <a:rPr lang="en-US" smtClean="0"/>
              <a:t>‹#›</a:t>
            </a:fld>
            <a:endParaRPr lang="en-US"/>
          </a:p>
        </p:txBody>
      </p:sp>
    </p:spTree>
  </p:cSld>
  <p:clrMapOvr>
    <a:masterClrMapping/>
  </p:clrMapOvr>
  <p:transition>
    <p:fade/>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B39E1A-22D0-4B75-84FB-2F84A5C3FC15}" type="datetimeFigureOut">
              <a:rPr lang="en-US" smtClean="0"/>
              <a:t>6/6/2026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3D3C5EE-A2B0-477A-BBB9-6E45D8717AB4}" type="slidenum">
              <a:rPr lang="en-US" smtClean="0"/>
              <a:t>‹#›</a:t>
            </a:fld>
            <a:endParaRPr lang="en-US"/>
          </a:p>
        </p:txBody>
      </p:sp>
    </p:spTree>
  </p:cSld>
  <p:clrMapOvr>
    <a:masterClrMapping/>
  </p:clrMapOvr>
  <p:transition>
    <p:fade/>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FB39E1A-22D0-4B75-84FB-2F84A5C3FC15}" type="datetimeFigureOut">
              <a:rPr lang="en-US" smtClean="0"/>
              <a:t>6/6/2026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D3C5EE-A2B0-477A-BBB9-6E45D8717AB4}" type="slidenum">
              <a:rPr lang="en-US" smtClean="0"/>
              <a:t>‹#›</a:t>
            </a:fld>
            <a:endParaRPr lang="en-US"/>
          </a:p>
        </p:txBody>
      </p:sp>
    </p:spTree>
  </p:cSld>
  <p:clrMapOvr>
    <a:masterClrMapping/>
  </p:clrMapOvr>
  <p:transition>
    <p:fade/>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FB39E1A-22D0-4B75-84FB-2F84A5C3FC15}" type="datetimeFigureOut">
              <a:rPr lang="en-US" smtClean="0"/>
              <a:t>6/6/2026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D3C5EE-A2B0-477A-BBB9-6E45D8717AB4}" type="slidenum">
              <a:rPr lang="en-US" smtClean="0"/>
              <a:t>‹#›</a:t>
            </a:fld>
            <a:endParaRPr lang="en-US"/>
          </a:p>
        </p:txBody>
      </p:sp>
    </p:spTree>
  </p:cSld>
  <p:clrMapOvr>
    <a:masterClrMapping/>
  </p:clrMapOvr>
  <p:transition>
    <p:fade/>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FB39E1A-22D0-4B75-84FB-2F84A5C3FC15}" type="datetimeFigureOut">
              <a:rPr lang="en-US" smtClean="0"/>
              <a:t>6/6/2026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D3C5EE-A2B0-477A-BBB9-6E45D8717AB4}" type="slidenum">
              <a:rPr lang="en-US" smtClean="0"/>
              <a:t>‹#›</a:t>
            </a:fld>
            <a:endParaRPr lang="en-US"/>
          </a:p>
        </p:txBody>
      </p:sp>
    </p:spTree>
  </p:cSld>
  <p:clrMapOvr>
    <a:masterClrMapping/>
  </p:clrMapOvr>
  <p:transition>
    <p:fade/>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FB39E1A-22D0-4B75-84FB-2F84A5C3FC15}" type="datetimeFigureOut">
              <a:rPr lang="en-US" smtClean="0"/>
              <a:t>6/6/2026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D3C5EE-A2B0-477A-BBB9-6E45D8717AB4}" type="slidenum">
              <a:rPr lang="en-US" smtClean="0"/>
              <a:t>‹#›</a:t>
            </a:fld>
            <a:endParaRPr lang="en-US"/>
          </a:p>
        </p:txBody>
      </p:sp>
    </p:spTree>
  </p:cSld>
  <p:clrMapOvr>
    <a:masterClrMapping/>
  </p:clrMapOvr>
  <p:transition>
    <p:fade/>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65000"/>
          </a:blip>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B39E1A-22D0-4B75-84FB-2F84A5C3FC15}" type="datetimeFigureOut">
              <a:rPr lang="en-US" smtClean="0"/>
              <a:t>6/6/2026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D3C5EE-A2B0-477A-BBB9-6E45D8717AB4}" type="slidenum">
              <a:rPr lang="en-US" smtClean="0"/>
              <a:t>‹#›</a:t>
            </a:fld>
            <a:endParaRPr lang="en-US"/>
          </a:p>
        </p:txBody>
      </p:sp>
    </p:spTree>
  </p:cSld>
  <p:clrMap bg1="dk1" tx1="lt1" bg2="dk2" tx2="lt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ransition>
    <p:fade/>
  </p:transition>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gargee1989.github.io/Nova/"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6" Type="http://schemas.openxmlformats.org/officeDocument/2006/relationships/hyperlink" Target="https://gargee1989.github.io/Nova/" TargetMode="External"/><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IN" sz="6600" dirty="0" smtClean="0">
                <a:solidFill>
                  <a:schemeClr val="bg1"/>
                </a:solidFill>
                <a:latin typeface="Times New Roman" pitchFamily="18" charset="0"/>
                <a:cs typeface="Times New Roman" pitchFamily="18" charset="0"/>
              </a:rPr>
              <a:t>NOVA</a:t>
            </a:r>
            <a:endParaRPr lang="en-US" sz="6600" dirty="0">
              <a:solidFill>
                <a:schemeClr val="bg1"/>
              </a:solidFill>
              <a:latin typeface="Times New Roman" pitchFamily="18" charset="0"/>
              <a:cs typeface="Times New Roman" pitchFamily="18" charset="0"/>
            </a:endParaRPr>
          </a:p>
        </p:txBody>
      </p:sp>
      <p:sp>
        <p:nvSpPr>
          <p:cNvPr id="3" name="Subtitle 2"/>
          <p:cNvSpPr>
            <a:spLocks noGrp="1"/>
          </p:cNvSpPr>
          <p:nvPr>
            <p:ph type="subTitle" idx="1"/>
          </p:nvPr>
        </p:nvSpPr>
        <p:spPr>
          <a:xfrm>
            <a:off x="1357290" y="3143248"/>
            <a:ext cx="6400800" cy="1781172"/>
          </a:xfrm>
        </p:spPr>
        <p:txBody>
          <a:bodyPr>
            <a:normAutofit/>
          </a:bodyPr>
          <a:lstStyle/>
          <a:p>
            <a:r>
              <a:rPr lang="en-IN" sz="3600" i="1" dirty="0" smtClean="0">
                <a:solidFill>
                  <a:schemeClr val="accent3"/>
                </a:solidFill>
                <a:latin typeface="Gabriola" pitchFamily="82" charset="0"/>
              </a:rPr>
              <a:t>Excellence Redefined Daily</a:t>
            </a:r>
          </a:p>
          <a:p>
            <a:endParaRPr lang="en-US" sz="3600" i="1" dirty="0">
              <a:solidFill>
                <a:schemeClr val="accent3"/>
              </a:solidFill>
              <a:latin typeface="Gabriola" pitchFamily="82" charset="0"/>
            </a:endParaRPr>
          </a:p>
        </p:txBody>
      </p:sp>
    </p:spTree>
  </p:cSld>
  <p:clrMapOvr>
    <a:masterClrMapping/>
  </p:clrMapOvr>
  <p:transition spd="med">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0"/>
            <a:ext cx="8229600" cy="796908"/>
          </a:xfrm>
        </p:spPr>
        <p:txBody>
          <a:bodyPr>
            <a:normAutofit/>
          </a:bodyPr>
          <a:lstStyle/>
          <a:p>
            <a:r>
              <a:rPr lang="en-IN" sz="3600" b="1" dirty="0" smtClean="0">
                <a:solidFill>
                  <a:schemeClr val="accent2"/>
                </a:solidFill>
                <a:latin typeface="Times New Roman" pitchFamily="18" charset="0"/>
                <a:cs typeface="Times New Roman" pitchFamily="18" charset="0"/>
              </a:rPr>
              <a:t>Introduction</a:t>
            </a:r>
            <a:endParaRPr lang="en-US" sz="3600" b="1" dirty="0">
              <a:solidFill>
                <a:schemeClr val="accent2"/>
              </a:solidFill>
              <a:latin typeface="Times New Roman" pitchFamily="18" charset="0"/>
              <a:cs typeface="Times New Roman" pitchFamily="18" charset="0"/>
            </a:endParaRPr>
          </a:p>
        </p:txBody>
      </p:sp>
      <p:sp>
        <p:nvSpPr>
          <p:cNvPr id="3" name="Content Placeholder 2"/>
          <p:cNvSpPr>
            <a:spLocks noGrp="1"/>
          </p:cNvSpPr>
          <p:nvPr>
            <p:ph idx="1"/>
          </p:nvPr>
        </p:nvSpPr>
        <p:spPr>
          <a:xfrm>
            <a:off x="428596" y="785794"/>
            <a:ext cx="8229600" cy="5857891"/>
          </a:xfrm>
        </p:spPr>
        <p:txBody>
          <a:bodyPr>
            <a:noAutofit/>
          </a:bodyPr>
          <a:lstStyle/>
          <a:p>
            <a:pPr algn="just">
              <a:buNone/>
            </a:pPr>
            <a:r>
              <a:rPr lang="en-US" sz="1900" b="1" i="1" dirty="0" smtClean="0">
                <a:solidFill>
                  <a:schemeClr val="bg1"/>
                </a:solidFill>
                <a:latin typeface="Times New Roman" pitchFamily="18" charset="0"/>
                <a:cs typeface="Times New Roman" pitchFamily="18" charset="0"/>
              </a:rPr>
              <a:t>1.1 Project Overview</a:t>
            </a:r>
          </a:p>
          <a:p>
            <a:pPr algn="just"/>
            <a:r>
              <a:rPr lang="en-US" sz="1900" dirty="0" smtClean="0">
                <a:solidFill>
                  <a:schemeClr val="bg1"/>
                </a:solidFill>
                <a:latin typeface="Times New Roman" pitchFamily="18" charset="0"/>
                <a:cs typeface="Times New Roman" pitchFamily="18" charset="0"/>
              </a:rPr>
              <a:t>NOVA is a comprehensive </a:t>
            </a:r>
            <a:r>
              <a:rPr lang="en-US" sz="1900" b="1" i="1" dirty="0" smtClean="0">
                <a:solidFill>
                  <a:schemeClr val="bg1"/>
                </a:solidFill>
                <a:latin typeface="Times New Roman" pitchFamily="18" charset="0"/>
                <a:cs typeface="Times New Roman" pitchFamily="18" charset="0"/>
              </a:rPr>
              <a:t>mock university website </a:t>
            </a:r>
            <a:r>
              <a:rPr lang="en-US" sz="1900" dirty="0" smtClean="0">
                <a:solidFill>
                  <a:schemeClr val="bg1"/>
                </a:solidFill>
                <a:latin typeface="Times New Roman" pitchFamily="18" charset="0"/>
                <a:cs typeface="Times New Roman" pitchFamily="18" charset="0"/>
              </a:rPr>
              <a:t>developed as a demonstration of contemporary web development practices, responsive design methodologies, and user-centered interface design principles. The project encompasses the complete development lifecycle, from requirements analysis and system design through implementation, usability testing, and evaluation.</a:t>
            </a:r>
          </a:p>
          <a:p>
            <a:pPr algn="just"/>
            <a:r>
              <a:rPr lang="en-US" sz="1900" dirty="0" smtClean="0">
                <a:solidFill>
                  <a:schemeClr val="bg1"/>
                </a:solidFill>
                <a:latin typeface="Times New Roman" pitchFamily="18" charset="0"/>
                <a:cs typeface="Times New Roman" pitchFamily="18" charset="0"/>
              </a:rPr>
              <a:t>The NOVA platform integrates multiple functional modules including student admission portal, course directory, faculty information system, event management, and institutional news within a cohesive, accessible, and responsive interface suitable for diverse user demographics and device types.</a:t>
            </a:r>
          </a:p>
          <a:p>
            <a:pPr algn="just">
              <a:buNone/>
            </a:pPr>
            <a:r>
              <a:rPr lang="en-US" sz="1900" b="1" i="1" dirty="0" smtClean="0">
                <a:solidFill>
                  <a:schemeClr val="bg1"/>
                </a:solidFill>
                <a:latin typeface="Times New Roman" pitchFamily="18" charset="0"/>
                <a:cs typeface="Times New Roman" pitchFamily="18" charset="0"/>
              </a:rPr>
              <a:t>1.2 Problem Statement</a:t>
            </a:r>
          </a:p>
          <a:p>
            <a:pPr algn="just">
              <a:buNone/>
            </a:pPr>
            <a:r>
              <a:rPr lang="en-US" sz="1900" dirty="0" smtClean="0">
                <a:solidFill>
                  <a:schemeClr val="bg1"/>
                </a:solidFill>
                <a:latin typeface="Times New Roman" pitchFamily="18" charset="0"/>
                <a:cs typeface="Times New Roman" pitchFamily="18" charset="0"/>
              </a:rPr>
              <a:t>      Many existing university websites suffer from poor information architecture, inconsistent user experience across devices, accessibility issues, and outdated design paradigms. These deficiencies create barriers for prospective students, current students, faculty, and other stakeholders attempting to navigate institutional information. There is a demonstrable need for a modern university website that prioritizes user experience, incorporates accessibility standards, and employs responsive design principles to serve an increasingly mobile-first user base.</a:t>
            </a:r>
          </a:p>
          <a:p>
            <a:endParaRPr lang="en-US" sz="1900" dirty="0"/>
          </a:p>
        </p:txBody>
      </p:sp>
    </p:spTree>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142852"/>
            <a:ext cx="8229600" cy="1143000"/>
          </a:xfrm>
        </p:spPr>
        <p:txBody>
          <a:bodyPr>
            <a:normAutofit/>
          </a:bodyPr>
          <a:lstStyle/>
          <a:p>
            <a:r>
              <a:rPr lang="en-IN" sz="3600" b="1" dirty="0" smtClean="0">
                <a:solidFill>
                  <a:schemeClr val="accent2"/>
                </a:solidFill>
                <a:latin typeface="Times New Roman" pitchFamily="18" charset="0"/>
                <a:cs typeface="Times New Roman" pitchFamily="18" charset="0"/>
              </a:rPr>
              <a:t>Project Objectives</a:t>
            </a:r>
            <a:endParaRPr lang="en-US" sz="3600" b="1" dirty="0">
              <a:solidFill>
                <a:schemeClr val="accent2"/>
              </a:solidFill>
              <a:latin typeface="Times New Roman" pitchFamily="18" charset="0"/>
              <a:cs typeface="Times New Roman" pitchFamily="18" charset="0"/>
            </a:endParaRPr>
          </a:p>
        </p:txBody>
      </p:sp>
      <p:sp>
        <p:nvSpPr>
          <p:cNvPr id="3" name="Content Placeholder 2"/>
          <p:cNvSpPr>
            <a:spLocks noGrp="1"/>
          </p:cNvSpPr>
          <p:nvPr>
            <p:ph idx="1"/>
          </p:nvPr>
        </p:nvSpPr>
        <p:spPr>
          <a:xfrm>
            <a:off x="428596" y="1214422"/>
            <a:ext cx="8229600" cy="5214974"/>
          </a:xfrm>
        </p:spPr>
        <p:txBody>
          <a:bodyPr>
            <a:normAutofit fontScale="70000" lnSpcReduction="20000"/>
          </a:bodyPr>
          <a:lstStyle/>
          <a:p>
            <a:pPr>
              <a:buNone/>
            </a:pPr>
            <a:endParaRPr lang="en-US" dirty="0">
              <a:solidFill>
                <a:schemeClr val="bg1"/>
              </a:solidFill>
            </a:endParaRPr>
          </a:p>
          <a:p>
            <a:r>
              <a:rPr lang="en-US" dirty="0">
                <a:solidFill>
                  <a:schemeClr val="bg1"/>
                </a:solidFill>
                <a:latin typeface="Times New Roman" pitchFamily="18" charset="0"/>
                <a:cs typeface="Times New Roman" pitchFamily="18" charset="0"/>
              </a:rPr>
              <a:t>To design a visually engaging, emotionally resonant, and user-friendly graphical user interface for an academic web platform, incorporating fundamental design principles such as alignment, contrast, spacing, typography hierarchy, and visual consistency across all pages and components.</a:t>
            </a:r>
          </a:p>
          <a:p>
            <a:r>
              <a:rPr lang="en-US" dirty="0">
                <a:solidFill>
                  <a:schemeClr val="bg1"/>
                </a:solidFill>
                <a:latin typeface="Times New Roman" pitchFamily="18" charset="0"/>
                <a:cs typeface="Times New Roman" pitchFamily="18" charset="0"/>
              </a:rPr>
              <a:t>To develop and integrate a functional backend infrastructure that supports dynamic data handling, form submissions, and content management </a:t>
            </a:r>
            <a:r>
              <a:rPr lang="en-US" dirty="0" smtClean="0">
                <a:solidFill>
                  <a:schemeClr val="bg1"/>
                </a:solidFill>
                <a:latin typeface="Times New Roman" pitchFamily="18" charset="0"/>
                <a:cs typeface="Times New Roman" pitchFamily="18" charset="0"/>
              </a:rPr>
              <a:t>- </a:t>
            </a:r>
            <a:r>
              <a:rPr lang="en-US" dirty="0">
                <a:solidFill>
                  <a:schemeClr val="bg1"/>
                </a:solidFill>
                <a:latin typeface="Times New Roman" pitchFamily="18" charset="0"/>
                <a:cs typeface="Times New Roman" pitchFamily="18" charset="0"/>
              </a:rPr>
              <a:t>enabling the platform to operate beyond a static front-end system and simulate the </a:t>
            </a:r>
            <a:r>
              <a:rPr lang="en-US" dirty="0" smtClean="0">
                <a:solidFill>
                  <a:schemeClr val="bg1"/>
                </a:solidFill>
                <a:latin typeface="Times New Roman" pitchFamily="18" charset="0"/>
                <a:cs typeface="Times New Roman" pitchFamily="18" charset="0"/>
              </a:rPr>
              <a:t>behavior </a:t>
            </a:r>
            <a:r>
              <a:rPr lang="en-US" dirty="0">
                <a:solidFill>
                  <a:schemeClr val="bg1"/>
                </a:solidFill>
                <a:latin typeface="Times New Roman" pitchFamily="18" charset="0"/>
                <a:cs typeface="Times New Roman" pitchFamily="18" charset="0"/>
              </a:rPr>
              <a:t>of a production-grade institutional website.</a:t>
            </a:r>
          </a:p>
          <a:p>
            <a:r>
              <a:rPr lang="en-US" dirty="0">
                <a:solidFill>
                  <a:schemeClr val="bg1"/>
                </a:solidFill>
                <a:latin typeface="Times New Roman" pitchFamily="18" charset="0"/>
                <a:cs typeface="Times New Roman" pitchFamily="18" charset="0"/>
              </a:rPr>
              <a:t>To iteratively evaluate and refine the user interface and experience following backend integration, in accordance with the Agile Software Development Life Cycle — ensuring that each development sprint produces measurable improvements in usability, performance, and design coherence.</a:t>
            </a:r>
          </a:p>
          <a:p>
            <a:endParaRPr lang="en-US" dirty="0"/>
          </a:p>
        </p:txBody>
      </p:sp>
    </p:spTree>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b="1" dirty="0" smtClean="0">
                <a:solidFill>
                  <a:schemeClr val="accent2"/>
                </a:solidFill>
                <a:latin typeface="Times New Roman" pitchFamily="18" charset="0"/>
                <a:cs typeface="Times New Roman" pitchFamily="18" charset="0"/>
              </a:rPr>
              <a:t>Scope of </a:t>
            </a:r>
            <a:r>
              <a:rPr lang="en-IN" sz="3600" b="1" dirty="0">
                <a:solidFill>
                  <a:schemeClr val="accent2"/>
                </a:solidFill>
                <a:latin typeface="Times New Roman" pitchFamily="18" charset="0"/>
                <a:cs typeface="Times New Roman" pitchFamily="18" charset="0"/>
              </a:rPr>
              <a:t>t</a:t>
            </a:r>
            <a:r>
              <a:rPr lang="en-IN" sz="3600" b="1" dirty="0" smtClean="0">
                <a:solidFill>
                  <a:schemeClr val="accent2"/>
                </a:solidFill>
                <a:latin typeface="Times New Roman" pitchFamily="18" charset="0"/>
                <a:cs typeface="Times New Roman" pitchFamily="18" charset="0"/>
              </a:rPr>
              <a:t>he Project</a:t>
            </a:r>
            <a:endParaRPr lang="en-US" sz="3600" b="1" dirty="0">
              <a:solidFill>
                <a:schemeClr val="accent2"/>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ctr">
              <a:buNone/>
            </a:pPr>
            <a:r>
              <a:rPr lang="en-US" sz="2000" dirty="0">
                <a:solidFill>
                  <a:schemeClr val="bg1"/>
                </a:solidFill>
                <a:latin typeface="Times New Roman" pitchFamily="18" charset="0"/>
                <a:cs typeface="Times New Roman" pitchFamily="18" charset="0"/>
              </a:rPr>
              <a:t>This project encompasses</a:t>
            </a:r>
            <a:r>
              <a:rPr lang="en-US" sz="2000" dirty="0" smtClean="0">
                <a:solidFill>
                  <a:schemeClr val="bg1"/>
                </a:solidFill>
                <a:latin typeface="Times New Roman" pitchFamily="18" charset="0"/>
                <a:cs typeface="Times New Roman" pitchFamily="18" charset="0"/>
              </a:rPr>
              <a:t>:</a:t>
            </a:r>
          </a:p>
          <a:p>
            <a:pPr algn="ctr">
              <a:buNone/>
            </a:pPr>
            <a:r>
              <a:rPr lang="en-US" sz="2000" dirty="0">
                <a:solidFill>
                  <a:schemeClr val="bg1"/>
                </a:solidFill>
                <a:latin typeface="Times New Roman" pitchFamily="18" charset="0"/>
                <a:cs typeface="Times New Roman" pitchFamily="18" charset="0"/>
              </a:rPr>
              <a:t/>
            </a:r>
            <a:br>
              <a:rPr lang="en-US" sz="2000" dirty="0">
                <a:solidFill>
                  <a:schemeClr val="bg1"/>
                </a:solidFill>
                <a:latin typeface="Times New Roman" pitchFamily="18" charset="0"/>
                <a:cs typeface="Times New Roman" pitchFamily="18" charset="0"/>
              </a:rPr>
            </a:br>
            <a:r>
              <a:rPr lang="en-US" sz="2000" dirty="0">
                <a:solidFill>
                  <a:schemeClr val="bg1"/>
                </a:solidFill>
                <a:latin typeface="Times New Roman" pitchFamily="18" charset="0"/>
                <a:cs typeface="Times New Roman" pitchFamily="18" charset="0"/>
              </a:rPr>
              <a:t>	</a:t>
            </a:r>
            <a:r>
              <a:rPr lang="en-US" sz="2000" b="1" dirty="0">
                <a:solidFill>
                  <a:schemeClr val="bg1"/>
                </a:solidFill>
                <a:latin typeface="Times New Roman" pitchFamily="18" charset="0"/>
                <a:cs typeface="Times New Roman" pitchFamily="18" charset="0"/>
              </a:rPr>
              <a:t>1. Frontend Development:</a:t>
            </a:r>
            <a:r>
              <a:rPr lang="en-US" sz="2000" dirty="0">
                <a:solidFill>
                  <a:schemeClr val="bg1"/>
                </a:solidFill>
                <a:latin typeface="Times New Roman" pitchFamily="18" charset="0"/>
                <a:cs typeface="Times New Roman" pitchFamily="18" charset="0"/>
              </a:rPr>
              <a:t> </a:t>
            </a:r>
            <a:r>
              <a:rPr lang="en-US" sz="2000" dirty="0" smtClean="0">
                <a:solidFill>
                  <a:schemeClr val="bg1"/>
                </a:solidFill>
                <a:latin typeface="Times New Roman" pitchFamily="18" charset="0"/>
                <a:cs typeface="Times New Roman" pitchFamily="18" charset="0"/>
              </a:rPr>
              <a:t>HTML5</a:t>
            </a:r>
            <a:r>
              <a:rPr lang="en-US" sz="2000" dirty="0">
                <a:solidFill>
                  <a:schemeClr val="bg1"/>
                </a:solidFill>
                <a:latin typeface="Times New Roman" pitchFamily="18" charset="0"/>
                <a:cs typeface="Times New Roman" pitchFamily="18" charset="0"/>
              </a:rPr>
              <a:t>, CSS3, and JavaScript </a:t>
            </a:r>
            <a:r>
              <a:rPr lang="en-US" sz="2000" dirty="0" smtClean="0">
                <a:solidFill>
                  <a:schemeClr val="bg1"/>
                </a:solidFill>
                <a:latin typeface="Times New Roman" pitchFamily="18" charset="0"/>
                <a:cs typeface="Times New Roman" pitchFamily="18" charset="0"/>
              </a:rPr>
              <a:t>.</a:t>
            </a:r>
          </a:p>
          <a:p>
            <a:pPr algn="ctr">
              <a:buNone/>
            </a:pPr>
            <a:r>
              <a:rPr lang="en-US" sz="2000" dirty="0">
                <a:solidFill>
                  <a:schemeClr val="bg1"/>
                </a:solidFill>
                <a:latin typeface="Times New Roman" pitchFamily="18" charset="0"/>
                <a:cs typeface="Times New Roman" pitchFamily="18" charset="0"/>
              </a:rPr>
              <a:t/>
            </a:r>
            <a:br>
              <a:rPr lang="en-US" sz="2000" dirty="0">
                <a:solidFill>
                  <a:schemeClr val="bg1"/>
                </a:solidFill>
                <a:latin typeface="Times New Roman" pitchFamily="18" charset="0"/>
                <a:cs typeface="Times New Roman" pitchFamily="18" charset="0"/>
              </a:rPr>
            </a:br>
            <a:r>
              <a:rPr lang="en-US" sz="2000" dirty="0">
                <a:solidFill>
                  <a:schemeClr val="bg1"/>
                </a:solidFill>
                <a:latin typeface="Times New Roman" pitchFamily="18" charset="0"/>
                <a:cs typeface="Times New Roman" pitchFamily="18" charset="0"/>
              </a:rPr>
              <a:t>	</a:t>
            </a:r>
            <a:r>
              <a:rPr lang="en-US" sz="2000" b="1" dirty="0">
                <a:solidFill>
                  <a:schemeClr val="bg1"/>
                </a:solidFill>
                <a:latin typeface="Times New Roman" pitchFamily="18" charset="0"/>
                <a:cs typeface="Times New Roman" pitchFamily="18" charset="0"/>
              </a:rPr>
              <a:t>2. Functional Modules:</a:t>
            </a:r>
            <a:r>
              <a:rPr lang="en-US" sz="2000" dirty="0">
                <a:solidFill>
                  <a:schemeClr val="bg1"/>
                </a:solidFill>
                <a:latin typeface="Times New Roman" pitchFamily="18" charset="0"/>
                <a:cs typeface="Times New Roman" pitchFamily="18" charset="0"/>
              </a:rPr>
              <a:t> Student admission portal, course </a:t>
            </a:r>
            <a:r>
              <a:rPr lang="en-US" sz="2000" dirty="0" smtClean="0">
                <a:solidFill>
                  <a:schemeClr val="bg1"/>
                </a:solidFill>
                <a:latin typeface="Times New Roman" pitchFamily="18" charset="0"/>
                <a:cs typeface="Times New Roman" pitchFamily="18" charset="0"/>
              </a:rPr>
              <a:t>                                                                                                              catalogue, faculty directory, event management, news system.</a:t>
            </a:r>
          </a:p>
          <a:p>
            <a:pPr algn="ctr">
              <a:buNone/>
            </a:pPr>
            <a:r>
              <a:rPr lang="en-US" sz="2000" dirty="0">
                <a:solidFill>
                  <a:schemeClr val="bg1"/>
                </a:solidFill>
                <a:latin typeface="Times New Roman" pitchFamily="18" charset="0"/>
                <a:cs typeface="Times New Roman" pitchFamily="18" charset="0"/>
              </a:rPr>
              <a:t/>
            </a:r>
            <a:br>
              <a:rPr lang="en-US" sz="2000" dirty="0">
                <a:solidFill>
                  <a:schemeClr val="bg1"/>
                </a:solidFill>
                <a:latin typeface="Times New Roman" pitchFamily="18" charset="0"/>
                <a:cs typeface="Times New Roman" pitchFamily="18" charset="0"/>
              </a:rPr>
            </a:br>
            <a:r>
              <a:rPr lang="en-US" sz="2000" dirty="0">
                <a:solidFill>
                  <a:schemeClr val="bg1"/>
                </a:solidFill>
                <a:latin typeface="Times New Roman" pitchFamily="18" charset="0"/>
                <a:cs typeface="Times New Roman" pitchFamily="18" charset="0"/>
              </a:rPr>
              <a:t>	</a:t>
            </a:r>
            <a:r>
              <a:rPr lang="en-US" sz="2000" b="1" dirty="0">
                <a:solidFill>
                  <a:schemeClr val="bg1"/>
                </a:solidFill>
                <a:latin typeface="Times New Roman" pitchFamily="18" charset="0"/>
                <a:cs typeface="Times New Roman" pitchFamily="18" charset="0"/>
              </a:rPr>
              <a:t>3. Accessibility Features:</a:t>
            </a:r>
            <a:r>
              <a:rPr lang="en-US" sz="2000" dirty="0">
                <a:solidFill>
                  <a:schemeClr val="bg1"/>
                </a:solidFill>
                <a:latin typeface="Times New Roman" pitchFamily="18" charset="0"/>
                <a:cs typeface="Times New Roman" pitchFamily="18" charset="0"/>
              </a:rPr>
              <a:t> WCAG 2.1 Level AA </a:t>
            </a:r>
            <a:r>
              <a:rPr lang="en-US" sz="2000" dirty="0" smtClean="0">
                <a:solidFill>
                  <a:schemeClr val="bg1"/>
                </a:solidFill>
                <a:latin typeface="Times New Roman" pitchFamily="18" charset="0"/>
                <a:cs typeface="Times New Roman" pitchFamily="18" charset="0"/>
              </a:rPr>
              <a:t>compliance.</a:t>
            </a:r>
          </a:p>
          <a:p>
            <a:pPr algn="ctr">
              <a:buNone/>
            </a:pPr>
            <a:r>
              <a:rPr lang="en-US" sz="2000" dirty="0">
                <a:solidFill>
                  <a:schemeClr val="bg1"/>
                </a:solidFill>
                <a:latin typeface="Times New Roman" pitchFamily="18" charset="0"/>
                <a:cs typeface="Times New Roman" pitchFamily="18" charset="0"/>
              </a:rPr>
              <a:t/>
            </a:r>
            <a:br>
              <a:rPr lang="en-US" sz="2000" dirty="0">
                <a:solidFill>
                  <a:schemeClr val="bg1"/>
                </a:solidFill>
                <a:latin typeface="Times New Roman" pitchFamily="18" charset="0"/>
                <a:cs typeface="Times New Roman" pitchFamily="18" charset="0"/>
              </a:rPr>
            </a:br>
            <a:r>
              <a:rPr lang="en-US" sz="2000" dirty="0">
                <a:solidFill>
                  <a:schemeClr val="bg1"/>
                </a:solidFill>
                <a:latin typeface="Times New Roman" pitchFamily="18" charset="0"/>
                <a:cs typeface="Times New Roman" pitchFamily="18" charset="0"/>
              </a:rPr>
              <a:t>	</a:t>
            </a:r>
            <a:r>
              <a:rPr lang="en-US" sz="2000" b="1" dirty="0">
                <a:solidFill>
                  <a:schemeClr val="bg1"/>
                </a:solidFill>
                <a:latin typeface="Times New Roman" pitchFamily="18" charset="0"/>
                <a:cs typeface="Times New Roman" pitchFamily="18" charset="0"/>
              </a:rPr>
              <a:t>4. Usability Evaluation:</a:t>
            </a:r>
            <a:r>
              <a:rPr lang="en-US" sz="2000" dirty="0">
                <a:solidFill>
                  <a:schemeClr val="bg1"/>
                </a:solidFill>
                <a:latin typeface="Times New Roman" pitchFamily="18" charset="0"/>
                <a:cs typeface="Times New Roman" pitchFamily="18" charset="0"/>
              </a:rPr>
              <a:t> User testing with feedback collection and analysis</a:t>
            </a:r>
          </a:p>
          <a:p>
            <a:endParaRPr lang="en-US" dirty="0"/>
          </a:p>
        </p:txBody>
      </p:sp>
    </p:spTree>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5" y="785794"/>
            <a:ext cx="8229600" cy="1143000"/>
          </a:xfrm>
        </p:spPr>
        <p:txBody>
          <a:bodyPr>
            <a:normAutofit fontScale="90000"/>
          </a:bodyPr>
          <a:lstStyle/>
          <a:p>
            <a:r>
              <a:rPr lang="en-US" sz="4000" dirty="0" smtClean="0">
                <a:latin typeface="Times New Roman" pitchFamily="18" charset="0"/>
                <a:cs typeface="Times New Roman" pitchFamily="18" charset="0"/>
              </a:rPr>
              <a:t> </a:t>
            </a:r>
            <a:br>
              <a:rPr lang="en-US" sz="4000" dirty="0" smtClean="0">
                <a:latin typeface="Times New Roman" pitchFamily="18" charset="0"/>
                <a:cs typeface="Times New Roman" pitchFamily="18" charset="0"/>
              </a:rPr>
            </a:br>
            <a:r>
              <a:rPr lang="en-US" sz="4000" b="1" dirty="0" smtClean="0">
                <a:solidFill>
                  <a:schemeClr val="accent2"/>
                </a:solidFill>
                <a:latin typeface="Times New Roman" pitchFamily="18" charset="0"/>
                <a:cs typeface="Times New Roman" pitchFamily="18" charset="0"/>
              </a:rPr>
              <a:t>Methodology</a:t>
            </a:r>
            <a:r>
              <a:rPr lang="en-US" sz="4000" dirty="0" smtClean="0">
                <a:latin typeface="Times New Roman" pitchFamily="18" charset="0"/>
                <a:cs typeface="Times New Roman" pitchFamily="18" charset="0"/>
              </a:rPr>
              <a:t> </a:t>
            </a:r>
            <a:r>
              <a:rPr lang="en-US" b="1" dirty="0" smtClean="0"/>
              <a:t/>
            </a:r>
            <a:br>
              <a:rPr lang="en-US" b="1" dirty="0" smtClean="0"/>
            </a:br>
            <a:endParaRPr lang="en-US" dirty="0"/>
          </a:p>
        </p:txBody>
      </p:sp>
      <p:sp>
        <p:nvSpPr>
          <p:cNvPr id="3" name="Content Placeholder 2"/>
          <p:cNvSpPr>
            <a:spLocks noGrp="1"/>
          </p:cNvSpPr>
          <p:nvPr>
            <p:ph idx="1"/>
          </p:nvPr>
        </p:nvSpPr>
        <p:spPr>
          <a:xfrm>
            <a:off x="500035" y="2000241"/>
            <a:ext cx="8229600" cy="4525963"/>
          </a:xfrm>
        </p:spPr>
        <p:txBody>
          <a:bodyPr>
            <a:normAutofit/>
          </a:bodyPr>
          <a:lstStyle/>
          <a:p>
            <a:pPr algn="just">
              <a:buNone/>
            </a:pPr>
            <a:r>
              <a:rPr lang="en-US" sz="2200" dirty="0" smtClean="0">
                <a:latin typeface="Times New Roman" pitchFamily="18" charset="0"/>
                <a:cs typeface="Times New Roman" pitchFamily="18" charset="0"/>
              </a:rPr>
              <a:t>     </a:t>
            </a:r>
            <a:r>
              <a:rPr lang="en-US" sz="2200" dirty="0" smtClean="0">
                <a:solidFill>
                  <a:schemeClr val="bg1"/>
                </a:solidFill>
                <a:latin typeface="Times New Roman" pitchFamily="18" charset="0"/>
                <a:cs typeface="Times New Roman" pitchFamily="18" charset="0"/>
              </a:rPr>
              <a:t>Nova was developed following a GUI-first methodology - a deliberate inversion of the typical development sequence in which backend logic precedes visual design. In this project, all implementation decisions were anchored by interface and experience goals established at the outset, ensuring that technical execution consistently served design intent.</a:t>
            </a:r>
          </a:p>
          <a:p>
            <a:endParaRPr lang="en-US" dirty="0"/>
          </a:p>
        </p:txBody>
      </p:sp>
    </p:spTree>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5" y="1928802"/>
            <a:ext cx="8229600" cy="1143000"/>
          </a:xfrm>
        </p:spPr>
        <p:txBody>
          <a:bodyPr>
            <a:normAutofit fontScale="90000"/>
          </a:bodyPr>
          <a:lstStyle/>
          <a:p>
            <a:r>
              <a:rPr lang="en-US" sz="2800" b="1" i="1" dirty="0" smtClean="0">
                <a:solidFill>
                  <a:schemeClr val="accent2"/>
                </a:solidFill>
                <a:latin typeface="Times New Roman" pitchFamily="18" charset="0"/>
                <a:cs typeface="Times New Roman" pitchFamily="18" charset="0"/>
              </a:rPr>
              <a:t>Agile </a:t>
            </a:r>
            <a:r>
              <a:rPr lang="en-US" sz="2800" b="1" i="1" dirty="0">
                <a:solidFill>
                  <a:schemeClr val="accent2"/>
                </a:solidFill>
                <a:latin typeface="Times New Roman" pitchFamily="18" charset="0"/>
                <a:cs typeface="Times New Roman" pitchFamily="18" charset="0"/>
              </a:rPr>
              <a:t>SDLC </a:t>
            </a:r>
            <a:r>
              <a:rPr lang="en-US" sz="2800" b="1" i="1" dirty="0" smtClean="0">
                <a:solidFill>
                  <a:schemeClr val="accent2"/>
                </a:solidFill>
                <a:latin typeface="Times New Roman" pitchFamily="18" charset="0"/>
                <a:cs typeface="Times New Roman" pitchFamily="18" charset="0"/>
              </a:rPr>
              <a:t>Approach</a:t>
            </a:r>
            <a:r>
              <a:rPr lang="en-US" sz="2000" b="1" i="1" dirty="0" smtClean="0">
                <a:latin typeface="Times New Roman" pitchFamily="18" charset="0"/>
                <a:cs typeface="Times New Roman" pitchFamily="18" charset="0"/>
              </a:rPr>
              <a:t/>
            </a:r>
            <a:br>
              <a:rPr lang="en-US" sz="2000" b="1" i="1" dirty="0" smtClean="0">
                <a:latin typeface="Times New Roman" pitchFamily="18" charset="0"/>
                <a:cs typeface="Times New Roman" pitchFamily="18" charset="0"/>
              </a:rPr>
            </a:br>
            <a:r>
              <a:rPr lang="en-US" sz="2000" b="1" i="1" dirty="0">
                <a:latin typeface="Times New Roman" pitchFamily="18" charset="0"/>
                <a:cs typeface="Times New Roman" pitchFamily="18" charset="0"/>
              </a:rPr>
              <a:t/>
            </a:r>
            <a:br>
              <a:rPr lang="en-US" sz="2000" b="1" i="1" dirty="0">
                <a:latin typeface="Times New Roman" pitchFamily="18" charset="0"/>
                <a:cs typeface="Times New Roman" pitchFamily="18" charset="0"/>
              </a:rPr>
            </a:br>
            <a:endParaRPr lang="en-US" sz="2400" dirty="0"/>
          </a:p>
        </p:txBody>
      </p:sp>
      <p:sp>
        <p:nvSpPr>
          <p:cNvPr id="3" name="Content Placeholder 2"/>
          <p:cNvSpPr>
            <a:spLocks noGrp="1"/>
          </p:cNvSpPr>
          <p:nvPr>
            <p:ph idx="1"/>
          </p:nvPr>
        </p:nvSpPr>
        <p:spPr>
          <a:xfrm>
            <a:off x="357159" y="2428868"/>
            <a:ext cx="8229600" cy="2400304"/>
          </a:xfrm>
        </p:spPr>
        <p:txBody>
          <a:bodyPr>
            <a:normAutofit/>
          </a:bodyPr>
          <a:lstStyle/>
          <a:p>
            <a:pPr algn="just">
              <a:buNone/>
            </a:pPr>
            <a:r>
              <a:rPr lang="en-US" sz="2000" dirty="0" smtClean="0">
                <a:latin typeface="Times New Roman" pitchFamily="18" charset="0"/>
                <a:cs typeface="Times New Roman" pitchFamily="18" charset="0"/>
              </a:rPr>
              <a:t>     </a:t>
            </a:r>
            <a:r>
              <a:rPr lang="en-US" sz="2000" dirty="0" smtClean="0">
                <a:solidFill>
                  <a:schemeClr val="bg1"/>
                </a:solidFill>
                <a:latin typeface="Times New Roman" pitchFamily="18" charset="0"/>
                <a:cs typeface="Times New Roman" pitchFamily="18" charset="0"/>
              </a:rPr>
              <a:t>The project adopted an Agile-inspired development model. Each phase produced a discrete, reviewable deliverable rather than deferring all evaluation to the end. This allowed design and implementation decisions to be validated incrementally, with findings from one phase informing the next. Peer feedback and self-review checkpoints were embedded throughout to catch usability and consistency issues early.</a:t>
            </a:r>
            <a:endParaRPr lang="en-US" sz="2000" dirty="0">
              <a:solidFill>
                <a:schemeClr val="bg1"/>
              </a:solidFill>
              <a:latin typeface="Times New Roman" pitchFamily="18" charset="0"/>
              <a:cs typeface="Times New Roman" pitchFamily="18" charset="0"/>
            </a:endParaRPr>
          </a:p>
        </p:txBody>
      </p:sp>
    </p:spTree>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472" y="1571612"/>
            <a:ext cx="8229600" cy="1143000"/>
          </a:xfrm>
        </p:spPr>
        <p:txBody>
          <a:bodyPr>
            <a:normAutofit fontScale="90000"/>
          </a:bodyPr>
          <a:lstStyle/>
          <a:p>
            <a:r>
              <a:rPr lang="en-US" sz="2800" b="1" i="1" dirty="0" smtClean="0">
                <a:solidFill>
                  <a:schemeClr val="accent2"/>
                </a:solidFill>
                <a:latin typeface="Times New Roman" pitchFamily="18" charset="0"/>
                <a:cs typeface="Times New Roman" pitchFamily="18" charset="0"/>
              </a:rPr>
              <a:t>Phase 1 — GUI Design and Wire-framing </a:t>
            </a:r>
            <a:r>
              <a:rPr lang="en-US" sz="2800" b="1" i="1" dirty="0" smtClean="0">
                <a:latin typeface="Times New Roman" pitchFamily="18" charset="0"/>
                <a:cs typeface="Times New Roman" pitchFamily="18" charset="0"/>
              </a:rPr>
              <a:t/>
            </a:r>
            <a:br>
              <a:rPr lang="en-US" sz="2800" b="1" i="1" dirty="0" smtClean="0">
                <a:latin typeface="Times New Roman" pitchFamily="18" charset="0"/>
                <a:cs typeface="Times New Roman" pitchFamily="18" charset="0"/>
              </a:rPr>
            </a:br>
            <a:r>
              <a:rPr lang="en-US" sz="2700" b="1" dirty="0" smtClean="0">
                <a:latin typeface="Times New Roman" pitchFamily="18" charset="0"/>
                <a:cs typeface="Times New Roman" pitchFamily="18" charset="0"/>
              </a:rPr>
              <a:t/>
            </a:r>
            <a:br>
              <a:rPr lang="en-US" sz="2700" b="1" dirty="0" smtClean="0">
                <a:latin typeface="Times New Roman" pitchFamily="18" charset="0"/>
                <a:cs typeface="Times New Roman" pitchFamily="18" charset="0"/>
              </a:rPr>
            </a:br>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r>
              <a:rPr lang="en-US" sz="1000" dirty="0"/>
              <a:t/>
            </a:r>
            <a:br>
              <a:rPr lang="en-US" sz="1000" dirty="0"/>
            </a:br>
            <a:r>
              <a:rPr lang="en-US" sz="1000" dirty="0"/>
              <a:t/>
            </a:r>
            <a:br>
              <a:rPr lang="en-US" sz="1000" dirty="0"/>
            </a:br>
            <a:endParaRPr lang="en-US" sz="1000" dirty="0"/>
          </a:p>
        </p:txBody>
      </p:sp>
      <p:sp>
        <p:nvSpPr>
          <p:cNvPr id="3" name="Content Placeholder 2"/>
          <p:cNvSpPr>
            <a:spLocks noGrp="1"/>
          </p:cNvSpPr>
          <p:nvPr>
            <p:ph idx="1"/>
          </p:nvPr>
        </p:nvSpPr>
        <p:spPr>
          <a:xfrm>
            <a:off x="214283" y="1857365"/>
            <a:ext cx="8229600" cy="4525963"/>
          </a:xfrm>
        </p:spPr>
        <p:txBody>
          <a:bodyPr>
            <a:normAutofit/>
          </a:bodyPr>
          <a:lstStyle/>
          <a:p>
            <a:pPr algn="just">
              <a:buNone/>
            </a:pPr>
            <a:r>
              <a:rPr lang="en-US" sz="2000" dirty="0" smtClean="0">
                <a:latin typeface="Times New Roman" pitchFamily="18" charset="0"/>
                <a:cs typeface="Times New Roman" pitchFamily="18" charset="0"/>
              </a:rPr>
              <a:t>     </a:t>
            </a:r>
            <a:r>
              <a:rPr lang="en-US" sz="2000" dirty="0" smtClean="0">
                <a:solidFill>
                  <a:schemeClr val="bg1"/>
                </a:solidFill>
                <a:latin typeface="Times New Roman" pitchFamily="18" charset="0"/>
                <a:cs typeface="Times New Roman" pitchFamily="18" charset="0"/>
              </a:rPr>
              <a:t>The project began with a structured design phase before a single line of code was written. Primary user flows were identified - browsing academic programs, navigating the admissions process, exploring campus life, and submitting the application form  and layout wireframes were sketched. this phase: the deep forest-green and warm gold color palette, the pairing of a serif display typeface with a geometric sans-serif for body text, and the recurring page template (hero banner → ticker bar → content sections → CTA banner → footer) were all established before implementation began. A CSS custom property sheet was drafted to encode all color tokens globally, ensuring the design system would remain consistent across the entire site.</a:t>
            </a:r>
            <a:endParaRPr lang="en-US" sz="2000" dirty="0">
              <a:solidFill>
                <a:schemeClr val="bg1"/>
              </a:solidFill>
            </a:endParaRPr>
          </a:p>
        </p:txBody>
      </p:sp>
    </p:spTree>
  </p:cSld>
  <p:clrMapOvr>
    <a:masterClrMapping/>
  </p:clrMapOvr>
  <p:transition spd="slow">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928670"/>
            <a:ext cx="8229600" cy="1143000"/>
          </a:xfrm>
        </p:spPr>
        <p:txBody>
          <a:bodyPr>
            <a:normAutofit/>
          </a:bodyPr>
          <a:lstStyle/>
          <a:p>
            <a:r>
              <a:rPr lang="en-US" sz="2500" b="1" i="1" dirty="0" smtClean="0">
                <a:solidFill>
                  <a:schemeClr val="accent2"/>
                </a:solidFill>
                <a:latin typeface="Times New Roman" pitchFamily="18" charset="0"/>
                <a:cs typeface="Times New Roman" pitchFamily="18" charset="0"/>
              </a:rPr>
              <a:t>Phase 2 — Core HTML/CSS Implementation </a:t>
            </a:r>
            <a:r>
              <a:rPr lang="en-US" sz="2500" b="1" i="1" dirty="0" smtClean="0">
                <a:latin typeface="Times New Roman" pitchFamily="18" charset="0"/>
                <a:cs typeface="Times New Roman" pitchFamily="18" charset="0"/>
              </a:rPr>
              <a:t/>
            </a:r>
            <a:br>
              <a:rPr lang="en-US" sz="2500" b="1" i="1" dirty="0" smtClean="0">
                <a:latin typeface="Times New Roman" pitchFamily="18" charset="0"/>
                <a:cs typeface="Times New Roman" pitchFamily="18" charset="0"/>
              </a:rPr>
            </a:br>
            <a:endParaRPr lang="en-US" sz="2500" i="1" dirty="0">
              <a:latin typeface="Times New Roman" pitchFamily="18" charset="0"/>
              <a:cs typeface="Times New Roman" pitchFamily="18" charset="0"/>
            </a:endParaRPr>
          </a:p>
        </p:txBody>
      </p:sp>
      <p:sp>
        <p:nvSpPr>
          <p:cNvPr id="3" name="Content Placeholder 2"/>
          <p:cNvSpPr>
            <a:spLocks noGrp="1"/>
          </p:cNvSpPr>
          <p:nvPr>
            <p:ph idx="1"/>
          </p:nvPr>
        </p:nvSpPr>
        <p:spPr>
          <a:xfrm>
            <a:off x="285720" y="1571613"/>
            <a:ext cx="8229600" cy="4525963"/>
          </a:xfrm>
        </p:spPr>
        <p:txBody>
          <a:bodyPr>
            <a:normAutofit/>
          </a:bodyPr>
          <a:lstStyle/>
          <a:p>
            <a:pPr algn="just">
              <a:buNone/>
            </a:pPr>
            <a:r>
              <a:rPr lang="en-US" sz="2000" dirty="0" smtClean="0"/>
              <a:t>     </a:t>
            </a:r>
            <a:r>
              <a:rPr lang="en-US" sz="2000" dirty="0" smtClean="0">
                <a:solidFill>
                  <a:schemeClr val="bg1"/>
                </a:solidFill>
                <a:latin typeface="Times New Roman" pitchFamily="18" charset="0"/>
                <a:cs typeface="Times New Roman" pitchFamily="18" charset="0"/>
              </a:rPr>
              <a:t>With the visual system defined, structural implementation began using semantic HTML5. Every page was built using appropriate semantic elements — &lt;header&gt;, &lt;</a:t>
            </a:r>
            <a:r>
              <a:rPr lang="en-US" sz="2000" dirty="0" err="1" smtClean="0">
                <a:solidFill>
                  <a:schemeClr val="bg1"/>
                </a:solidFill>
                <a:latin typeface="Times New Roman" pitchFamily="18" charset="0"/>
                <a:cs typeface="Times New Roman" pitchFamily="18" charset="0"/>
              </a:rPr>
              <a:t>nav</a:t>
            </a:r>
            <a:r>
              <a:rPr lang="en-US" sz="2000" dirty="0" smtClean="0">
                <a:solidFill>
                  <a:schemeClr val="bg1"/>
                </a:solidFill>
                <a:latin typeface="Times New Roman" pitchFamily="18" charset="0"/>
                <a:cs typeface="Times New Roman" pitchFamily="18" charset="0"/>
              </a:rPr>
              <a:t>&gt;, &lt;main&gt;, &lt;section&gt;, &lt;article&gt;, and &lt;footer&gt; — to ensure logical document structure and support for assistive technologies. CSS3 </a:t>
            </a:r>
            <a:r>
              <a:rPr lang="en-US" sz="2000" dirty="0" err="1" smtClean="0">
                <a:solidFill>
                  <a:schemeClr val="bg1"/>
                </a:solidFill>
                <a:latin typeface="Times New Roman" pitchFamily="18" charset="0"/>
                <a:cs typeface="Times New Roman" pitchFamily="18" charset="0"/>
              </a:rPr>
              <a:t>Flexbox</a:t>
            </a:r>
            <a:r>
              <a:rPr lang="en-US" sz="2000" dirty="0" smtClean="0">
                <a:solidFill>
                  <a:schemeClr val="bg1"/>
                </a:solidFill>
                <a:latin typeface="Times New Roman" pitchFamily="18" charset="0"/>
                <a:cs typeface="Times New Roman" pitchFamily="18" charset="0"/>
              </a:rPr>
              <a:t> and Grid were used throughout to construct responsive layouts, with each component designed to reflow gracefully from desktop to tablet to mobile viewports. The shared </a:t>
            </a:r>
            <a:r>
              <a:rPr lang="en-US" sz="2000" dirty="0" err="1" smtClean="0">
                <a:solidFill>
                  <a:schemeClr val="bg1"/>
                </a:solidFill>
                <a:latin typeface="Times New Roman" pitchFamily="18" charset="0"/>
                <a:cs typeface="Times New Roman" pitchFamily="18" charset="0"/>
              </a:rPr>
              <a:t>navbar</a:t>
            </a:r>
            <a:r>
              <a:rPr lang="en-US" sz="2000" dirty="0" smtClean="0">
                <a:solidFill>
                  <a:schemeClr val="bg1"/>
                </a:solidFill>
                <a:latin typeface="Times New Roman" pitchFamily="18" charset="0"/>
                <a:cs typeface="Times New Roman" pitchFamily="18" charset="0"/>
              </a:rPr>
              <a:t> and footer HTML was replicated identically across all 17 pages to enforce structural consistency, and the global CSS variable sheet defined in Phase 1 was applied site-wide so that color and spacing changes could propagate instantly. Key pages completed in this phase included the Home page, About Us, Admission portal, Academic Calendar, and all four Program detail pages.</a:t>
            </a:r>
            <a:endParaRPr lang="en-US" sz="2000" dirty="0">
              <a:solidFill>
                <a:schemeClr val="bg1"/>
              </a:solidFill>
              <a:latin typeface="Times New Roman" pitchFamily="18" charset="0"/>
              <a:cs typeface="Times New Roman" pitchFamily="18" charset="0"/>
            </a:endParaRPr>
          </a:p>
        </p:txBody>
      </p:sp>
    </p:spTree>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2911" y="857232"/>
            <a:ext cx="8229600" cy="1143000"/>
          </a:xfrm>
        </p:spPr>
        <p:txBody>
          <a:bodyPr>
            <a:normAutofit/>
          </a:bodyPr>
          <a:lstStyle/>
          <a:p>
            <a:r>
              <a:rPr lang="en-US" sz="2500" b="1" i="1" dirty="0" smtClean="0">
                <a:solidFill>
                  <a:schemeClr val="accent2"/>
                </a:solidFill>
                <a:latin typeface="Times New Roman" pitchFamily="18" charset="0"/>
                <a:cs typeface="Times New Roman" pitchFamily="18" charset="0"/>
              </a:rPr>
              <a:t>Phase 3 — JavaScript Interactivity</a:t>
            </a:r>
            <a:endParaRPr lang="en-US" sz="2500" i="1" dirty="0">
              <a:solidFill>
                <a:schemeClr val="accent2"/>
              </a:solidFill>
              <a:latin typeface="Times New Roman" pitchFamily="18" charset="0"/>
              <a:cs typeface="Times New Roman" pitchFamily="18" charset="0"/>
            </a:endParaRPr>
          </a:p>
        </p:txBody>
      </p:sp>
      <p:sp>
        <p:nvSpPr>
          <p:cNvPr id="3" name="Content Placeholder 2"/>
          <p:cNvSpPr>
            <a:spLocks noGrp="1"/>
          </p:cNvSpPr>
          <p:nvPr>
            <p:ph idx="1"/>
          </p:nvPr>
        </p:nvSpPr>
        <p:spPr>
          <a:xfrm>
            <a:off x="285720" y="1643051"/>
            <a:ext cx="8229600" cy="4525963"/>
          </a:xfrm>
        </p:spPr>
        <p:txBody>
          <a:bodyPr>
            <a:normAutofit/>
          </a:bodyPr>
          <a:lstStyle/>
          <a:p>
            <a:pPr algn="just">
              <a:buNone/>
            </a:pPr>
            <a:r>
              <a:rPr lang="en-US" sz="2000" dirty="0" smtClean="0">
                <a:latin typeface="Times New Roman" pitchFamily="18" charset="0"/>
                <a:cs typeface="Times New Roman" pitchFamily="18" charset="0"/>
              </a:rPr>
              <a:t>     </a:t>
            </a:r>
            <a:r>
              <a:rPr lang="en-US" sz="2000" dirty="0" smtClean="0">
                <a:solidFill>
                  <a:schemeClr val="bg1"/>
                </a:solidFill>
                <a:latin typeface="Times New Roman" pitchFamily="18" charset="0"/>
                <a:cs typeface="Times New Roman" pitchFamily="18" charset="0"/>
              </a:rPr>
              <a:t>Once the static structure was in place, vanilla JavaScript was layered in to introduce client-side interactivity without introducing any external dependencies. The key components implemented in this phase were: a hamburger toggle for the mobile navigation menu; dropdown hover menus on the desktop </a:t>
            </a:r>
            <a:r>
              <a:rPr lang="en-US" sz="2000" dirty="0" err="1" smtClean="0">
                <a:solidFill>
                  <a:schemeClr val="bg1"/>
                </a:solidFill>
                <a:latin typeface="Times New Roman" pitchFamily="18" charset="0"/>
                <a:cs typeface="Times New Roman" pitchFamily="18" charset="0"/>
              </a:rPr>
              <a:t>navbar</a:t>
            </a:r>
            <a:r>
              <a:rPr lang="en-US" sz="2000" dirty="0" smtClean="0">
                <a:solidFill>
                  <a:schemeClr val="bg1"/>
                </a:solidFill>
                <a:latin typeface="Times New Roman" pitchFamily="18" charset="0"/>
                <a:cs typeface="Times New Roman" pitchFamily="18" charset="0"/>
              </a:rPr>
              <a:t>; an Intersection Observer-driven animated counter that counts up enrollment, faculty, alumni, and employment statistics when the relevant section scrolls into view; a horizontally scrolling marquee/ticker bar used as a visual separator across multiple pages; client-side form validation on both the Contact page form and the five-step Apply Now application form; and dynamic step-progression logic for the multi-step application flow, including visual state management for completed, active, and upcoming steps. All JavaScript was written in vanilla ES6+ and encapsulated to prevent scope conflicts between pages.</a:t>
            </a:r>
            <a:endParaRPr lang="en-US" sz="2000" dirty="0">
              <a:solidFill>
                <a:schemeClr val="bg1"/>
              </a:solidFill>
              <a:latin typeface="Times New Roman" pitchFamily="18" charset="0"/>
              <a:cs typeface="Times New Roman" pitchFamily="18" charset="0"/>
            </a:endParaRPr>
          </a:p>
        </p:txBody>
      </p:sp>
    </p:spTree>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5" y="857232"/>
            <a:ext cx="8229600" cy="1143000"/>
          </a:xfrm>
        </p:spPr>
        <p:txBody>
          <a:bodyPr>
            <a:normAutofit/>
          </a:bodyPr>
          <a:lstStyle/>
          <a:p>
            <a:r>
              <a:rPr lang="en-US" sz="2500" b="1" i="1" dirty="0" smtClean="0">
                <a:solidFill>
                  <a:schemeClr val="accent2"/>
                </a:solidFill>
                <a:latin typeface="Times New Roman" pitchFamily="18" charset="0"/>
                <a:cs typeface="Times New Roman" pitchFamily="18" charset="0"/>
              </a:rPr>
              <a:t>Phase 4 — Testing, Validation, and Deployment </a:t>
            </a:r>
            <a:r>
              <a:rPr lang="en-US" sz="2000" b="1" dirty="0" smtClean="0"/>
              <a:t/>
            </a:r>
            <a:br>
              <a:rPr lang="en-US" sz="2000" b="1" dirty="0" smtClean="0"/>
            </a:br>
            <a:endParaRPr lang="en-US" sz="2000" dirty="0"/>
          </a:p>
        </p:txBody>
      </p:sp>
      <p:sp>
        <p:nvSpPr>
          <p:cNvPr id="3" name="Content Placeholder 2"/>
          <p:cNvSpPr>
            <a:spLocks noGrp="1"/>
          </p:cNvSpPr>
          <p:nvPr>
            <p:ph idx="1"/>
          </p:nvPr>
        </p:nvSpPr>
        <p:spPr>
          <a:xfrm>
            <a:off x="285720" y="1571613"/>
            <a:ext cx="8229600" cy="4525963"/>
          </a:xfrm>
        </p:spPr>
        <p:txBody>
          <a:bodyPr>
            <a:normAutofit/>
          </a:bodyPr>
          <a:lstStyle/>
          <a:p>
            <a:pPr algn="just">
              <a:buNone/>
            </a:pPr>
            <a:r>
              <a:rPr lang="en-US" sz="2000" dirty="0" smtClean="0">
                <a:latin typeface="Times New Roman" pitchFamily="18" charset="0"/>
                <a:cs typeface="Times New Roman" pitchFamily="18" charset="0"/>
              </a:rPr>
              <a:t>     </a:t>
            </a:r>
            <a:r>
              <a:rPr lang="en-US" sz="2000" dirty="0" smtClean="0">
                <a:solidFill>
                  <a:schemeClr val="bg1"/>
                </a:solidFill>
                <a:latin typeface="Times New Roman" pitchFamily="18" charset="0"/>
                <a:cs typeface="Times New Roman" pitchFamily="18" charset="0"/>
              </a:rPr>
              <a:t>The final phase focused on cross-device testing, accessibility validation, and live deployment. The site was tested across Chrome, Firefox, Safari, and Edge on desktop, and on mobile viewports via browser </a:t>
            </a:r>
            <a:r>
              <a:rPr lang="en-US" sz="2000" dirty="0" err="1" smtClean="0">
                <a:solidFill>
                  <a:schemeClr val="bg1"/>
                </a:solidFill>
                <a:latin typeface="Times New Roman" pitchFamily="18" charset="0"/>
                <a:cs typeface="Times New Roman" pitchFamily="18" charset="0"/>
              </a:rPr>
              <a:t>DevTools</a:t>
            </a:r>
            <a:r>
              <a:rPr lang="en-US" sz="2000" dirty="0" smtClean="0">
                <a:solidFill>
                  <a:schemeClr val="bg1"/>
                </a:solidFill>
                <a:latin typeface="Times New Roman" pitchFamily="18" charset="0"/>
                <a:cs typeface="Times New Roman" pitchFamily="18" charset="0"/>
              </a:rPr>
              <a:t> and physical devices. Each page was manually reviewed for layout breakpoints, navigation behavior, and interactive component reliability at varying screen widths. Accessibility compliance was checked against WCAG 2.1 guidelines, with particular attention to color contrast ratios between the dark navy backgrounds and body text, semantic label associations on form fields, and logical focus order for keyboard navigation. The completed site was deployed to </a:t>
            </a:r>
            <a:r>
              <a:rPr lang="en-US" sz="2000" dirty="0" err="1" smtClean="0">
                <a:solidFill>
                  <a:schemeClr val="bg1"/>
                </a:solidFill>
                <a:latin typeface="Times New Roman" pitchFamily="18" charset="0"/>
                <a:cs typeface="Times New Roman" pitchFamily="18" charset="0"/>
              </a:rPr>
              <a:t>GitHub</a:t>
            </a:r>
            <a:r>
              <a:rPr lang="en-US" sz="2000" dirty="0" smtClean="0">
                <a:solidFill>
                  <a:schemeClr val="bg1"/>
                </a:solidFill>
                <a:latin typeface="Times New Roman" pitchFamily="18" charset="0"/>
                <a:cs typeface="Times New Roman" pitchFamily="18" charset="0"/>
              </a:rPr>
              <a:t> Pages, providing a publicly accessible live URL </a:t>
            </a:r>
            <a:r>
              <a:rPr lang="en-US" sz="2000" b="1" dirty="0" smtClean="0">
                <a:solidFill>
                  <a:schemeClr val="accent3"/>
                </a:solidFill>
                <a:latin typeface="Times New Roman" pitchFamily="18" charset="0"/>
                <a:cs typeface="Times New Roman" pitchFamily="18" charset="0"/>
              </a:rPr>
              <a:t>(</a:t>
            </a:r>
            <a:r>
              <a:rPr lang="en-US" sz="2000" b="1" i="1" u="sng" dirty="0" smtClean="0">
                <a:solidFill>
                  <a:schemeClr val="accent3"/>
                </a:solidFill>
                <a:latin typeface="Times New Roman" pitchFamily="18" charset="0"/>
                <a:cs typeface="Times New Roman" pitchFamily="18" charset="0"/>
                <a:hlinkClick r:id="rId2"/>
              </a:rPr>
              <a:t>gargee1989.github.io/Nova/</a:t>
            </a:r>
            <a:r>
              <a:rPr lang="en-US" sz="2000" b="1" i="1" u="sng" dirty="0">
                <a:solidFill>
                  <a:schemeClr val="accent3"/>
                </a:solidFill>
                <a:latin typeface="Times New Roman" pitchFamily="18" charset="0"/>
                <a:cs typeface="Times New Roman" pitchFamily="18" charset="0"/>
              </a:rPr>
              <a:t>)</a:t>
            </a:r>
            <a:r>
              <a:rPr lang="en-US" sz="2000" b="1" dirty="0" smtClean="0">
                <a:solidFill>
                  <a:schemeClr val="accent3"/>
                </a:solidFill>
                <a:latin typeface="Times New Roman" pitchFamily="18" charset="0"/>
                <a:cs typeface="Times New Roman" pitchFamily="18" charset="0"/>
              </a:rPr>
              <a:t> </a:t>
            </a:r>
            <a:r>
              <a:rPr lang="en-US" sz="2000" dirty="0" smtClean="0">
                <a:solidFill>
                  <a:schemeClr val="bg1"/>
                </a:solidFill>
                <a:latin typeface="Times New Roman" pitchFamily="18" charset="0"/>
                <a:cs typeface="Times New Roman" pitchFamily="18" charset="0"/>
              </a:rPr>
              <a:t>with no build tools or server configuration required.</a:t>
            </a:r>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endParaRPr lang="en-US" sz="2000" dirty="0">
              <a:latin typeface="Times New Roman" pitchFamily="18" charset="0"/>
              <a:cs typeface="Times New Roman" pitchFamily="18" charset="0"/>
            </a:endParaRPr>
          </a:p>
        </p:txBody>
      </p:sp>
    </p:spTree>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85728"/>
            <a:ext cx="8229600" cy="1011198"/>
          </a:xfrm>
        </p:spPr>
        <p:txBody>
          <a:bodyPr>
            <a:noAutofit/>
          </a:bodyPr>
          <a:lstStyle/>
          <a:p>
            <a:r>
              <a:rPr lang="en-US" sz="2500" b="1" dirty="0" smtClean="0">
                <a:latin typeface="Times New Roman" pitchFamily="18" charset="0"/>
                <a:cs typeface="Times New Roman" pitchFamily="18" charset="0"/>
              </a:rPr>
              <a:t> </a:t>
            </a:r>
            <a:r>
              <a:rPr lang="en-US" sz="2500" b="1" dirty="0">
                <a:solidFill>
                  <a:schemeClr val="accent2"/>
                </a:solidFill>
                <a:latin typeface="Times New Roman" pitchFamily="18" charset="0"/>
                <a:cs typeface="Times New Roman" pitchFamily="18" charset="0"/>
              </a:rPr>
              <a:t>Tech Stack</a:t>
            </a:r>
            <a:r>
              <a:rPr lang="en-US" sz="1700" b="1" i="1" dirty="0"/>
              <a:t/>
            </a:r>
            <a:br>
              <a:rPr lang="en-US" sz="1700" b="1" i="1" dirty="0"/>
            </a:br>
            <a:r>
              <a:rPr lang="en-US" sz="1700" dirty="0"/>
              <a:t/>
            </a:r>
            <a:br>
              <a:rPr lang="en-US" sz="1700" dirty="0"/>
            </a:br>
            <a:endParaRPr lang="en-US" sz="1700" dirty="0"/>
          </a:p>
        </p:txBody>
      </p:sp>
      <p:sp>
        <p:nvSpPr>
          <p:cNvPr id="3" name="Content Placeholder 2"/>
          <p:cNvSpPr>
            <a:spLocks noGrp="1"/>
          </p:cNvSpPr>
          <p:nvPr>
            <p:ph idx="1"/>
          </p:nvPr>
        </p:nvSpPr>
        <p:spPr>
          <a:xfrm>
            <a:off x="457200" y="785795"/>
            <a:ext cx="8229600" cy="5715040"/>
          </a:xfrm>
        </p:spPr>
        <p:txBody>
          <a:bodyPr>
            <a:normAutofit fontScale="47500" lnSpcReduction="20000"/>
          </a:bodyPr>
          <a:lstStyle/>
          <a:p>
            <a:pPr algn="ctr">
              <a:buNone/>
            </a:pPr>
            <a:r>
              <a:rPr lang="en-US" dirty="0" smtClean="0">
                <a:solidFill>
                  <a:schemeClr val="bg1"/>
                </a:solidFill>
              </a:rPr>
              <a:t>        </a:t>
            </a:r>
            <a:r>
              <a:rPr lang="en-US" sz="3800" dirty="0" smtClean="0">
                <a:solidFill>
                  <a:schemeClr val="bg1"/>
                </a:solidFill>
                <a:latin typeface="Times New Roman" pitchFamily="18" charset="0"/>
                <a:cs typeface="Times New Roman" pitchFamily="18" charset="0"/>
              </a:rPr>
              <a:t>1.  </a:t>
            </a:r>
            <a:r>
              <a:rPr lang="en-US" sz="3800" b="1" dirty="0" smtClean="0">
                <a:solidFill>
                  <a:schemeClr val="bg1"/>
                </a:solidFill>
                <a:latin typeface="Times New Roman" pitchFamily="18" charset="0"/>
                <a:cs typeface="Times New Roman" pitchFamily="18" charset="0"/>
              </a:rPr>
              <a:t>HTML5</a:t>
            </a:r>
            <a:r>
              <a:rPr lang="en-US" sz="3800" dirty="0" smtClean="0">
                <a:solidFill>
                  <a:schemeClr val="bg1"/>
                </a:solidFill>
                <a:latin typeface="Times New Roman" pitchFamily="18" charset="0"/>
                <a:cs typeface="Times New Roman" pitchFamily="18" charset="0"/>
              </a:rPr>
              <a:t> provided the semantic document structure for all 17 pages. Semantic elements were used throughout to convey meaningful page structure to both browsers and assistive technologies, and to maintain a logical content hierarchy independent of visual styling.</a:t>
            </a:r>
            <a:br>
              <a:rPr lang="en-US" sz="3800" dirty="0" smtClean="0">
                <a:solidFill>
                  <a:schemeClr val="bg1"/>
                </a:solidFill>
                <a:latin typeface="Times New Roman" pitchFamily="18" charset="0"/>
                <a:cs typeface="Times New Roman" pitchFamily="18" charset="0"/>
              </a:rPr>
            </a:br>
            <a:r>
              <a:rPr lang="en-US" sz="3800" dirty="0" smtClean="0">
                <a:solidFill>
                  <a:schemeClr val="bg1"/>
                </a:solidFill>
                <a:latin typeface="Times New Roman" pitchFamily="18" charset="0"/>
                <a:cs typeface="Times New Roman" pitchFamily="18" charset="0"/>
              </a:rPr>
              <a:t/>
            </a:r>
            <a:br>
              <a:rPr lang="en-US" sz="3800" dirty="0" smtClean="0">
                <a:solidFill>
                  <a:schemeClr val="bg1"/>
                </a:solidFill>
                <a:latin typeface="Times New Roman" pitchFamily="18" charset="0"/>
                <a:cs typeface="Times New Roman" pitchFamily="18" charset="0"/>
              </a:rPr>
            </a:br>
            <a:r>
              <a:rPr lang="en-US" sz="3800" dirty="0" smtClean="0">
                <a:solidFill>
                  <a:schemeClr val="bg1"/>
                </a:solidFill>
                <a:latin typeface="Times New Roman" pitchFamily="18" charset="0"/>
                <a:cs typeface="Times New Roman" pitchFamily="18" charset="0"/>
              </a:rPr>
              <a:t>2.  </a:t>
            </a:r>
            <a:r>
              <a:rPr lang="en-US" sz="3800" b="1" dirty="0" smtClean="0">
                <a:solidFill>
                  <a:schemeClr val="bg1"/>
                </a:solidFill>
                <a:latin typeface="Times New Roman" pitchFamily="18" charset="0"/>
                <a:cs typeface="Times New Roman" pitchFamily="18" charset="0"/>
              </a:rPr>
              <a:t>CSS3 </a:t>
            </a:r>
            <a:r>
              <a:rPr lang="en-US" sz="3800" dirty="0" smtClean="0">
                <a:solidFill>
                  <a:schemeClr val="bg1"/>
                </a:solidFill>
                <a:latin typeface="Times New Roman" pitchFamily="18" charset="0"/>
                <a:cs typeface="Times New Roman" pitchFamily="18" charset="0"/>
              </a:rPr>
              <a:t>handles all visual styling, layout, and animation. </a:t>
            </a:r>
            <a:r>
              <a:rPr lang="en-US" sz="3800" dirty="0" err="1" smtClean="0">
                <a:solidFill>
                  <a:schemeClr val="bg1"/>
                </a:solidFill>
                <a:latin typeface="Times New Roman" pitchFamily="18" charset="0"/>
                <a:cs typeface="Times New Roman" pitchFamily="18" charset="0"/>
              </a:rPr>
              <a:t>Flexbox</a:t>
            </a:r>
            <a:r>
              <a:rPr lang="en-US" sz="3800" dirty="0" smtClean="0">
                <a:solidFill>
                  <a:schemeClr val="bg1"/>
                </a:solidFill>
                <a:latin typeface="Times New Roman" pitchFamily="18" charset="0"/>
                <a:cs typeface="Times New Roman" pitchFamily="18" charset="0"/>
              </a:rPr>
              <a:t> was used for one-dimensional alignment tasks such as </a:t>
            </a:r>
            <a:r>
              <a:rPr lang="en-US" sz="3800" dirty="0" err="1" smtClean="0">
                <a:solidFill>
                  <a:schemeClr val="bg1"/>
                </a:solidFill>
                <a:latin typeface="Times New Roman" pitchFamily="18" charset="0"/>
                <a:cs typeface="Times New Roman" pitchFamily="18" charset="0"/>
              </a:rPr>
              <a:t>navbar</a:t>
            </a:r>
            <a:r>
              <a:rPr lang="en-US" sz="3800" dirty="0" smtClean="0">
                <a:solidFill>
                  <a:schemeClr val="bg1"/>
                </a:solidFill>
                <a:latin typeface="Times New Roman" pitchFamily="18" charset="0"/>
                <a:cs typeface="Times New Roman" pitchFamily="18" charset="0"/>
              </a:rPr>
              <a:t> items, card rows, and footer columns, while CSS Grid was applied for two-dimensional layouts including the programs grid, alumni card matrix, and department contact grid. CSS custom properties (variables) define the full color palette globally, enabling site-wide visual consistency and making design iteration efficient. </a:t>
            </a:r>
            <a:r>
              <a:rPr lang="en-US" sz="3800" dirty="0" err="1" smtClean="0">
                <a:solidFill>
                  <a:schemeClr val="bg1"/>
                </a:solidFill>
                <a:latin typeface="Times New Roman" pitchFamily="18" charset="0"/>
                <a:cs typeface="Times New Roman" pitchFamily="18" charset="0"/>
              </a:rPr>
              <a:t>Keyframe</a:t>
            </a:r>
            <a:r>
              <a:rPr lang="en-US" sz="3800" dirty="0" smtClean="0">
                <a:solidFill>
                  <a:schemeClr val="bg1"/>
                </a:solidFill>
                <a:latin typeface="Times New Roman" pitchFamily="18" charset="0"/>
                <a:cs typeface="Times New Roman" pitchFamily="18" charset="0"/>
              </a:rPr>
              <a:t> animations and CSS transitions provide hover state feedback and smooth visual interactions without JavaScript.</a:t>
            </a:r>
            <a:br>
              <a:rPr lang="en-US" sz="3800" dirty="0" smtClean="0">
                <a:solidFill>
                  <a:schemeClr val="bg1"/>
                </a:solidFill>
                <a:latin typeface="Times New Roman" pitchFamily="18" charset="0"/>
                <a:cs typeface="Times New Roman" pitchFamily="18" charset="0"/>
              </a:rPr>
            </a:br>
            <a:r>
              <a:rPr lang="en-US" sz="3800" dirty="0" smtClean="0">
                <a:solidFill>
                  <a:schemeClr val="bg1"/>
                </a:solidFill>
                <a:latin typeface="Times New Roman" pitchFamily="18" charset="0"/>
                <a:cs typeface="Times New Roman" pitchFamily="18" charset="0"/>
              </a:rPr>
              <a:t/>
            </a:r>
            <a:br>
              <a:rPr lang="en-US" sz="3800" dirty="0" smtClean="0">
                <a:solidFill>
                  <a:schemeClr val="bg1"/>
                </a:solidFill>
                <a:latin typeface="Times New Roman" pitchFamily="18" charset="0"/>
                <a:cs typeface="Times New Roman" pitchFamily="18" charset="0"/>
              </a:rPr>
            </a:br>
            <a:r>
              <a:rPr lang="en-US" sz="3800" dirty="0" smtClean="0">
                <a:solidFill>
                  <a:schemeClr val="bg1"/>
                </a:solidFill>
                <a:latin typeface="Times New Roman" pitchFamily="18" charset="0"/>
                <a:cs typeface="Times New Roman" pitchFamily="18" charset="0"/>
              </a:rPr>
              <a:t>3.  </a:t>
            </a:r>
            <a:r>
              <a:rPr lang="en-US" sz="3800" b="1" dirty="0" smtClean="0">
                <a:solidFill>
                  <a:schemeClr val="bg1"/>
                </a:solidFill>
                <a:latin typeface="Times New Roman" pitchFamily="18" charset="0"/>
                <a:cs typeface="Times New Roman" pitchFamily="18" charset="0"/>
              </a:rPr>
              <a:t>JavaScript </a:t>
            </a:r>
            <a:r>
              <a:rPr lang="en-US" sz="3800" dirty="0" smtClean="0">
                <a:solidFill>
                  <a:schemeClr val="bg1"/>
                </a:solidFill>
                <a:latin typeface="Times New Roman" pitchFamily="18" charset="0"/>
                <a:cs typeface="Times New Roman" pitchFamily="18" charset="0"/>
              </a:rPr>
              <a:t>was used exclusively for client-side interactivity. DOM manipulation powered the mobile navigation toggle and dropdown menus; the Intersection Observer API drove the scroll-triggered animated counters; form validation logic provided real-time user feedback on the Apply Now and Contact forms; and dynamic rendering managed the five-step application stepper’s progress state. No server-side logic, build tooling, or package management was used at any point in the project.</a:t>
            </a:r>
            <a:br>
              <a:rPr lang="en-US" sz="3800" dirty="0" smtClean="0">
                <a:solidFill>
                  <a:schemeClr val="bg1"/>
                </a:solidFill>
                <a:latin typeface="Times New Roman" pitchFamily="18" charset="0"/>
                <a:cs typeface="Times New Roman" pitchFamily="18" charset="0"/>
              </a:rPr>
            </a:br>
            <a:r>
              <a:rPr lang="en-US" sz="3800" dirty="0" smtClean="0">
                <a:solidFill>
                  <a:schemeClr val="bg1"/>
                </a:solidFill>
                <a:latin typeface="Times New Roman" pitchFamily="18" charset="0"/>
                <a:cs typeface="Times New Roman" pitchFamily="18" charset="0"/>
              </a:rPr>
              <a:t/>
            </a:r>
            <a:br>
              <a:rPr lang="en-US" sz="3800" dirty="0" smtClean="0">
                <a:solidFill>
                  <a:schemeClr val="bg1"/>
                </a:solidFill>
                <a:latin typeface="Times New Roman" pitchFamily="18" charset="0"/>
                <a:cs typeface="Times New Roman" pitchFamily="18" charset="0"/>
              </a:rPr>
            </a:br>
            <a:r>
              <a:rPr lang="en-US" sz="3800" dirty="0" smtClean="0">
                <a:solidFill>
                  <a:schemeClr val="bg1"/>
                </a:solidFill>
                <a:latin typeface="Times New Roman" pitchFamily="18" charset="0"/>
                <a:cs typeface="Times New Roman" pitchFamily="18" charset="0"/>
              </a:rPr>
              <a:t>4.  </a:t>
            </a:r>
            <a:r>
              <a:rPr lang="en-US" sz="3800" b="1" dirty="0" err="1" smtClean="0">
                <a:solidFill>
                  <a:schemeClr val="bg1"/>
                </a:solidFill>
                <a:latin typeface="Times New Roman" pitchFamily="18" charset="0"/>
                <a:cs typeface="Times New Roman" pitchFamily="18" charset="0"/>
              </a:rPr>
              <a:t>GitHub</a:t>
            </a:r>
            <a:r>
              <a:rPr lang="en-US" sz="3800" b="1" dirty="0" smtClean="0">
                <a:solidFill>
                  <a:schemeClr val="bg1"/>
                </a:solidFill>
                <a:latin typeface="Times New Roman" pitchFamily="18" charset="0"/>
                <a:cs typeface="Times New Roman" pitchFamily="18" charset="0"/>
              </a:rPr>
              <a:t> Pages</a:t>
            </a:r>
            <a:r>
              <a:rPr lang="en-US" sz="3800" dirty="0" smtClean="0">
                <a:solidFill>
                  <a:schemeClr val="bg1"/>
                </a:solidFill>
                <a:latin typeface="Times New Roman" pitchFamily="18" charset="0"/>
                <a:cs typeface="Times New Roman" pitchFamily="18" charset="0"/>
              </a:rPr>
              <a:t> served as the deployment platform. The static nature of the project made </a:t>
            </a:r>
            <a:r>
              <a:rPr lang="en-US" sz="3800" dirty="0" err="1" smtClean="0">
                <a:solidFill>
                  <a:schemeClr val="bg1"/>
                </a:solidFill>
                <a:latin typeface="Times New Roman" pitchFamily="18" charset="0"/>
                <a:cs typeface="Times New Roman" pitchFamily="18" charset="0"/>
              </a:rPr>
              <a:t>GitHub</a:t>
            </a:r>
            <a:r>
              <a:rPr lang="en-US" sz="3800" dirty="0" smtClean="0">
                <a:solidFill>
                  <a:schemeClr val="bg1"/>
                </a:solidFill>
                <a:latin typeface="Times New Roman" pitchFamily="18" charset="0"/>
                <a:cs typeface="Times New Roman" pitchFamily="18" charset="0"/>
              </a:rPr>
              <a:t> Pages an ideal host - no build pipeline, no server configuration, and free public hosting directly from the project repository</a:t>
            </a:r>
            <a:r>
              <a:rPr lang="en-US" sz="3800" dirty="0">
                <a:solidFill>
                  <a:schemeClr val="bg1"/>
                </a:solidFill>
                <a:latin typeface="Times New Roman" pitchFamily="18" charset="0"/>
                <a:cs typeface="Times New Roman" pitchFamily="18" charset="0"/>
              </a:rPr>
              <a:t>.</a:t>
            </a:r>
            <a:endParaRPr lang="en-US" sz="3800" dirty="0">
              <a:latin typeface="Times New Roman" pitchFamily="18" charset="0"/>
              <a:cs typeface="Times New Roman" pitchFamily="18" charset="0"/>
            </a:endParaRPr>
          </a:p>
        </p:txBody>
      </p:sp>
    </p:spTree>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Autofit/>
          </a:bodyPr>
          <a:lstStyle/>
          <a:p>
            <a:r>
              <a:rPr lang="en-US" sz="3600" b="1" dirty="0" smtClean="0">
                <a:solidFill>
                  <a:schemeClr val="accent2"/>
                </a:solidFill>
                <a:latin typeface="Times New Roman" pitchFamily="18" charset="0"/>
                <a:cs typeface="Times New Roman" pitchFamily="18" charset="0"/>
              </a:rPr>
              <a:t>Deliverables</a:t>
            </a:r>
            <a:endParaRPr lang="en-US" sz="3600" b="1" dirty="0">
              <a:solidFill>
                <a:schemeClr val="accent2"/>
              </a:solidFill>
              <a:latin typeface="Times New Roman" pitchFamily="18" charset="0"/>
              <a:cs typeface="Times New Roman" pitchFamily="18" charset="0"/>
            </a:endParaRPr>
          </a:p>
        </p:txBody>
      </p:sp>
      <p:pic>
        <p:nvPicPr>
          <p:cNvPr id="5" name="Content Placeholder 4" descr="home_2.png"/>
          <p:cNvPicPr>
            <a:picLocks noGrp="1" noChangeAspect="1"/>
          </p:cNvPicPr>
          <p:nvPr>
            <p:ph sz="half" idx="1"/>
          </p:nvPr>
        </p:nvPicPr>
        <p:blipFill>
          <a:blip r:embed="rId2" cstate="print"/>
          <a:stretch>
            <a:fillRect/>
          </a:stretch>
        </p:blipFill>
        <p:spPr>
          <a:xfrm>
            <a:off x="214282" y="1071546"/>
            <a:ext cx="4513511" cy="2087793"/>
          </a:xfrm>
        </p:spPr>
      </p:pic>
      <p:pic>
        <p:nvPicPr>
          <p:cNvPr id="6" name="Content Placeholder 5" descr="dropdown_2.png"/>
          <p:cNvPicPr>
            <a:picLocks noGrp="1" noChangeAspect="1"/>
          </p:cNvPicPr>
          <p:nvPr>
            <p:ph sz="half" idx="2"/>
          </p:nvPr>
        </p:nvPicPr>
        <p:blipFill>
          <a:blip r:embed="rId3"/>
          <a:stretch>
            <a:fillRect/>
          </a:stretch>
        </p:blipFill>
        <p:spPr>
          <a:xfrm>
            <a:off x="4500562" y="4643446"/>
            <a:ext cx="4374330" cy="2044594"/>
          </a:xfrm>
        </p:spPr>
      </p:pic>
      <p:pic>
        <p:nvPicPr>
          <p:cNvPr id="7" name="Picture 6" descr="events_2.png"/>
          <p:cNvPicPr>
            <a:picLocks noChangeAspect="1"/>
          </p:cNvPicPr>
          <p:nvPr/>
        </p:nvPicPr>
        <p:blipFill>
          <a:blip r:embed="rId4" cstate="print"/>
          <a:stretch>
            <a:fillRect/>
          </a:stretch>
        </p:blipFill>
        <p:spPr>
          <a:xfrm>
            <a:off x="4214810" y="1857364"/>
            <a:ext cx="4610998" cy="2143140"/>
          </a:xfrm>
          <a:prstGeom prst="rect">
            <a:avLst/>
          </a:prstGeom>
        </p:spPr>
      </p:pic>
      <p:pic>
        <p:nvPicPr>
          <p:cNvPr id="8" name="Picture 7" descr="Screenshot 2026-06-07 010057.png"/>
          <p:cNvPicPr>
            <a:picLocks noChangeAspect="1"/>
          </p:cNvPicPr>
          <p:nvPr/>
        </p:nvPicPr>
        <p:blipFill>
          <a:blip r:embed="rId5"/>
          <a:stretch>
            <a:fillRect/>
          </a:stretch>
        </p:blipFill>
        <p:spPr>
          <a:xfrm>
            <a:off x="214282" y="3571876"/>
            <a:ext cx="4582707" cy="2198500"/>
          </a:xfrm>
          <a:prstGeom prst="rect">
            <a:avLst/>
          </a:prstGeom>
        </p:spPr>
      </p:pic>
      <p:sp>
        <p:nvSpPr>
          <p:cNvPr id="9" name="TextBox 8"/>
          <p:cNvSpPr txBox="1"/>
          <p:nvPr/>
        </p:nvSpPr>
        <p:spPr>
          <a:xfrm>
            <a:off x="285720" y="6215082"/>
            <a:ext cx="3786214" cy="369332"/>
          </a:xfrm>
          <a:prstGeom prst="rect">
            <a:avLst/>
          </a:prstGeom>
          <a:noFill/>
        </p:spPr>
        <p:txBody>
          <a:bodyPr wrap="square" rtlCol="0">
            <a:spAutoFit/>
          </a:bodyPr>
          <a:lstStyle/>
          <a:p>
            <a:r>
              <a:rPr lang="en-IN" b="1" i="1" dirty="0" smtClean="0">
                <a:solidFill>
                  <a:schemeClr val="accent3"/>
                </a:solidFill>
                <a:latin typeface="Times New Roman" pitchFamily="18" charset="0"/>
                <a:cs typeface="Times New Roman" pitchFamily="18" charset="0"/>
              </a:rPr>
              <a:t>Visit</a:t>
            </a:r>
            <a:r>
              <a:rPr lang="en-IN" b="1" dirty="0" smtClean="0">
                <a:solidFill>
                  <a:schemeClr val="accent3"/>
                </a:solidFill>
                <a:latin typeface="Times New Roman" pitchFamily="18" charset="0"/>
                <a:cs typeface="Times New Roman" pitchFamily="18" charset="0"/>
              </a:rPr>
              <a:t>:</a:t>
            </a:r>
            <a:r>
              <a:rPr lang="en-IN" dirty="0" smtClean="0">
                <a:solidFill>
                  <a:schemeClr val="accent3"/>
                </a:solidFill>
                <a:latin typeface="Times New Roman" pitchFamily="18" charset="0"/>
                <a:cs typeface="Times New Roman" pitchFamily="18" charset="0"/>
              </a:rPr>
              <a:t> </a:t>
            </a:r>
            <a:r>
              <a:rPr lang="en-US" dirty="0" smtClean="0">
                <a:solidFill>
                  <a:schemeClr val="accent3"/>
                </a:solidFill>
                <a:latin typeface="Times New Roman" pitchFamily="18" charset="0"/>
                <a:cs typeface="Times New Roman" pitchFamily="18" charset="0"/>
              </a:rPr>
              <a:t>(</a:t>
            </a:r>
            <a:r>
              <a:rPr lang="en-US" i="1" dirty="0" smtClean="0">
                <a:solidFill>
                  <a:schemeClr val="accent3"/>
                </a:solidFill>
                <a:latin typeface="Times New Roman" pitchFamily="18" charset="0"/>
                <a:cs typeface="Times New Roman" pitchFamily="18" charset="0"/>
                <a:hlinkClick r:id="rId6"/>
              </a:rPr>
              <a:t>gargee1989.github.io/Nova/</a:t>
            </a:r>
            <a:r>
              <a:rPr lang="en-US" i="1" dirty="0" smtClean="0">
                <a:solidFill>
                  <a:schemeClr val="accent3"/>
                </a:solidFill>
                <a:latin typeface="Times New Roman" pitchFamily="18" charset="0"/>
                <a:cs typeface="Times New Roman" pitchFamily="18" charset="0"/>
              </a:rPr>
              <a:t>)</a:t>
            </a:r>
            <a:r>
              <a:rPr lang="en-US" dirty="0" smtClean="0">
                <a:solidFill>
                  <a:schemeClr val="accent3"/>
                </a:solidFill>
                <a:latin typeface="Times New Roman" pitchFamily="18" charset="0"/>
                <a:cs typeface="Times New Roman" pitchFamily="18" charset="0"/>
              </a:rPr>
              <a:t> </a:t>
            </a:r>
            <a:endParaRPr lang="en-US" dirty="0">
              <a:latin typeface="Times New Roman" pitchFamily="18" charset="0"/>
              <a:cs typeface="Times New Roman" pitchFamily="18" charset="0"/>
            </a:endParaRPr>
          </a:p>
        </p:txBody>
      </p:sp>
    </p:spTree>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500042"/>
            <a:ext cx="8229600" cy="857256"/>
          </a:xfrm>
        </p:spPr>
        <p:txBody>
          <a:bodyPr>
            <a:normAutofit/>
          </a:bodyPr>
          <a:lstStyle/>
          <a:p>
            <a:r>
              <a:rPr lang="en-IN" sz="3600" b="1" dirty="0" smtClean="0">
                <a:solidFill>
                  <a:schemeClr val="accent2"/>
                </a:solidFill>
                <a:latin typeface="Times New Roman" pitchFamily="18" charset="0"/>
                <a:cs typeface="Times New Roman" pitchFamily="18" charset="0"/>
              </a:rPr>
              <a:t>Future Scope</a:t>
            </a:r>
            <a:endParaRPr lang="en-US" sz="3600" b="1" dirty="0">
              <a:solidFill>
                <a:schemeClr val="accent2"/>
              </a:solidFill>
              <a:latin typeface="Times New Roman" pitchFamily="18" charset="0"/>
              <a:cs typeface="Times New Roman" pitchFamily="18" charset="0"/>
            </a:endParaRPr>
          </a:p>
        </p:txBody>
      </p:sp>
      <p:sp>
        <p:nvSpPr>
          <p:cNvPr id="3" name="Content Placeholder 2"/>
          <p:cNvSpPr>
            <a:spLocks noGrp="1"/>
          </p:cNvSpPr>
          <p:nvPr>
            <p:ph idx="1"/>
          </p:nvPr>
        </p:nvSpPr>
        <p:spPr>
          <a:xfrm>
            <a:off x="500034" y="1357298"/>
            <a:ext cx="8229600" cy="5072097"/>
          </a:xfrm>
        </p:spPr>
        <p:txBody>
          <a:bodyPr>
            <a:normAutofit lnSpcReduction="10000"/>
          </a:bodyPr>
          <a:lstStyle/>
          <a:p>
            <a:pPr>
              <a:buNone/>
            </a:pPr>
            <a:r>
              <a:rPr lang="en-US" dirty="0"/>
              <a:t/>
            </a:r>
            <a:br>
              <a:rPr lang="en-US" dirty="0"/>
            </a:br>
            <a:r>
              <a:rPr lang="en-US" dirty="0"/>
              <a:t>	</a:t>
            </a:r>
            <a:r>
              <a:rPr lang="en-US" sz="2400" dirty="0" smtClean="0">
                <a:solidFill>
                  <a:schemeClr val="bg1"/>
                </a:solidFill>
                <a:latin typeface="Times New Roman" pitchFamily="18" charset="0"/>
                <a:cs typeface="Times New Roman" pitchFamily="18" charset="0"/>
              </a:rPr>
              <a:t>1. </a:t>
            </a:r>
            <a:r>
              <a:rPr lang="en-US" sz="2400" dirty="0">
                <a:solidFill>
                  <a:schemeClr val="bg1"/>
                </a:solidFill>
                <a:latin typeface="Times New Roman" pitchFamily="18" charset="0"/>
                <a:cs typeface="Times New Roman" pitchFamily="18" charset="0"/>
              </a:rPr>
              <a:t>Backend Integration</a:t>
            </a:r>
            <a:r>
              <a:rPr lang="en-US" sz="2400" dirty="0" smtClean="0">
                <a:solidFill>
                  <a:schemeClr val="bg1"/>
                </a:solidFill>
                <a:latin typeface="Times New Roman" pitchFamily="18" charset="0"/>
                <a:cs typeface="Times New Roman" pitchFamily="18" charset="0"/>
              </a:rPr>
              <a:t>.</a:t>
            </a:r>
          </a:p>
          <a:p>
            <a:pPr>
              <a:buNone/>
            </a:pPr>
            <a:r>
              <a:rPr lang="en-US" sz="2400" dirty="0">
                <a:solidFill>
                  <a:schemeClr val="bg1"/>
                </a:solidFill>
                <a:latin typeface="Times New Roman" pitchFamily="18" charset="0"/>
                <a:cs typeface="Times New Roman" pitchFamily="18" charset="0"/>
              </a:rPr>
              <a:t/>
            </a:r>
            <a:br>
              <a:rPr lang="en-US" sz="2400" dirty="0">
                <a:solidFill>
                  <a:schemeClr val="bg1"/>
                </a:solidFill>
                <a:latin typeface="Times New Roman" pitchFamily="18" charset="0"/>
                <a:cs typeface="Times New Roman" pitchFamily="18" charset="0"/>
              </a:rPr>
            </a:br>
            <a:r>
              <a:rPr lang="en-US" sz="2400" dirty="0">
                <a:solidFill>
                  <a:schemeClr val="bg1"/>
                </a:solidFill>
                <a:latin typeface="Times New Roman" pitchFamily="18" charset="0"/>
                <a:cs typeface="Times New Roman" pitchFamily="18" charset="0"/>
              </a:rPr>
              <a:t>	</a:t>
            </a:r>
            <a:r>
              <a:rPr lang="en-US" sz="2400" dirty="0" smtClean="0">
                <a:solidFill>
                  <a:schemeClr val="bg1"/>
                </a:solidFill>
                <a:latin typeface="Times New Roman" pitchFamily="18" charset="0"/>
                <a:cs typeface="Times New Roman" pitchFamily="18" charset="0"/>
              </a:rPr>
              <a:t>2. </a:t>
            </a:r>
            <a:r>
              <a:rPr lang="en-US" sz="2400" dirty="0">
                <a:solidFill>
                  <a:schemeClr val="bg1"/>
                </a:solidFill>
                <a:latin typeface="Times New Roman" pitchFamily="18" charset="0"/>
                <a:cs typeface="Times New Roman" pitchFamily="18" charset="0"/>
              </a:rPr>
              <a:t>User Authentication &amp; Portal System</a:t>
            </a:r>
            <a:r>
              <a:rPr lang="en-US" sz="2400" dirty="0" smtClean="0">
                <a:solidFill>
                  <a:schemeClr val="bg1"/>
                </a:solidFill>
                <a:latin typeface="Times New Roman" pitchFamily="18" charset="0"/>
                <a:cs typeface="Times New Roman" pitchFamily="18" charset="0"/>
              </a:rPr>
              <a:t>.</a:t>
            </a:r>
          </a:p>
          <a:p>
            <a:pPr>
              <a:buNone/>
            </a:pPr>
            <a:r>
              <a:rPr lang="en-US" sz="2400" dirty="0">
                <a:solidFill>
                  <a:schemeClr val="bg1"/>
                </a:solidFill>
                <a:latin typeface="Times New Roman" pitchFamily="18" charset="0"/>
                <a:cs typeface="Times New Roman" pitchFamily="18" charset="0"/>
              </a:rPr>
              <a:t/>
            </a:r>
            <a:br>
              <a:rPr lang="en-US" sz="2400" dirty="0">
                <a:solidFill>
                  <a:schemeClr val="bg1"/>
                </a:solidFill>
                <a:latin typeface="Times New Roman" pitchFamily="18" charset="0"/>
                <a:cs typeface="Times New Roman" pitchFamily="18" charset="0"/>
              </a:rPr>
            </a:br>
            <a:r>
              <a:rPr lang="en-US" sz="2400" dirty="0">
                <a:solidFill>
                  <a:schemeClr val="bg1"/>
                </a:solidFill>
                <a:latin typeface="Times New Roman" pitchFamily="18" charset="0"/>
                <a:cs typeface="Times New Roman" pitchFamily="18" charset="0"/>
              </a:rPr>
              <a:t>	</a:t>
            </a:r>
            <a:r>
              <a:rPr lang="en-US" sz="2400" dirty="0" smtClean="0">
                <a:solidFill>
                  <a:schemeClr val="bg1"/>
                </a:solidFill>
                <a:latin typeface="Times New Roman" pitchFamily="18" charset="0"/>
                <a:cs typeface="Times New Roman" pitchFamily="18" charset="0"/>
              </a:rPr>
              <a:t>3. </a:t>
            </a:r>
            <a:r>
              <a:rPr lang="en-US" sz="2400" dirty="0">
                <a:solidFill>
                  <a:schemeClr val="bg1"/>
                </a:solidFill>
                <a:latin typeface="Times New Roman" pitchFamily="18" charset="0"/>
                <a:cs typeface="Times New Roman" pitchFamily="18" charset="0"/>
              </a:rPr>
              <a:t>Database-Driven </a:t>
            </a:r>
            <a:r>
              <a:rPr lang="en-US" sz="2400" dirty="0" smtClean="0">
                <a:solidFill>
                  <a:schemeClr val="bg1"/>
                </a:solidFill>
                <a:latin typeface="Times New Roman" pitchFamily="18" charset="0"/>
                <a:cs typeface="Times New Roman" pitchFamily="18" charset="0"/>
              </a:rPr>
              <a:t>Content.</a:t>
            </a:r>
          </a:p>
          <a:p>
            <a:pPr>
              <a:buNone/>
            </a:pPr>
            <a:r>
              <a:rPr lang="en-US" sz="2400" dirty="0">
                <a:solidFill>
                  <a:schemeClr val="bg1"/>
                </a:solidFill>
                <a:latin typeface="Times New Roman" pitchFamily="18" charset="0"/>
                <a:cs typeface="Times New Roman" pitchFamily="18" charset="0"/>
              </a:rPr>
              <a:t/>
            </a:r>
            <a:br>
              <a:rPr lang="en-US" sz="2400" dirty="0">
                <a:solidFill>
                  <a:schemeClr val="bg1"/>
                </a:solidFill>
                <a:latin typeface="Times New Roman" pitchFamily="18" charset="0"/>
                <a:cs typeface="Times New Roman" pitchFamily="18" charset="0"/>
              </a:rPr>
            </a:br>
            <a:r>
              <a:rPr lang="en-US" sz="2400" dirty="0">
                <a:solidFill>
                  <a:schemeClr val="bg1"/>
                </a:solidFill>
                <a:latin typeface="Times New Roman" pitchFamily="18" charset="0"/>
                <a:cs typeface="Times New Roman" pitchFamily="18" charset="0"/>
              </a:rPr>
              <a:t>	</a:t>
            </a:r>
            <a:r>
              <a:rPr lang="en-US" sz="2400" dirty="0" smtClean="0">
                <a:solidFill>
                  <a:schemeClr val="bg1"/>
                </a:solidFill>
                <a:latin typeface="Times New Roman" pitchFamily="18" charset="0"/>
                <a:cs typeface="Times New Roman" pitchFamily="18" charset="0"/>
              </a:rPr>
              <a:t>4. </a:t>
            </a:r>
            <a:r>
              <a:rPr lang="en-US" sz="2400" dirty="0">
                <a:solidFill>
                  <a:schemeClr val="bg1"/>
                </a:solidFill>
                <a:latin typeface="Times New Roman" pitchFamily="18" charset="0"/>
                <a:cs typeface="Times New Roman" pitchFamily="18" charset="0"/>
              </a:rPr>
              <a:t>Search </a:t>
            </a:r>
            <a:r>
              <a:rPr lang="en-US" sz="2400" dirty="0" smtClean="0">
                <a:solidFill>
                  <a:schemeClr val="bg1"/>
                </a:solidFill>
                <a:latin typeface="Times New Roman" pitchFamily="18" charset="0"/>
                <a:cs typeface="Times New Roman" pitchFamily="18" charset="0"/>
              </a:rPr>
              <a:t>Functionality.</a:t>
            </a:r>
          </a:p>
          <a:p>
            <a:pPr>
              <a:buNone/>
            </a:pPr>
            <a:endParaRPr lang="en-US" sz="2400" dirty="0" smtClean="0">
              <a:solidFill>
                <a:schemeClr val="bg1"/>
              </a:solidFill>
              <a:latin typeface="Times New Roman" pitchFamily="18" charset="0"/>
              <a:cs typeface="Times New Roman" pitchFamily="18" charset="0"/>
            </a:endParaRPr>
          </a:p>
          <a:p>
            <a:pPr>
              <a:buNone/>
            </a:pPr>
            <a:r>
              <a:rPr lang="en-IN" sz="2400" dirty="0">
                <a:solidFill>
                  <a:schemeClr val="bg1"/>
                </a:solidFill>
                <a:latin typeface="Times New Roman" pitchFamily="18" charset="0"/>
                <a:cs typeface="Times New Roman" pitchFamily="18" charset="0"/>
              </a:rPr>
              <a:t> </a:t>
            </a:r>
            <a:r>
              <a:rPr lang="en-IN" sz="2400" dirty="0" smtClean="0">
                <a:solidFill>
                  <a:schemeClr val="bg1"/>
                </a:solidFill>
                <a:latin typeface="Times New Roman" pitchFamily="18" charset="0"/>
                <a:cs typeface="Times New Roman" pitchFamily="18" charset="0"/>
              </a:rPr>
              <a:t>           5. </a:t>
            </a:r>
            <a:r>
              <a:rPr lang="en-US" sz="2400" dirty="0">
                <a:solidFill>
                  <a:schemeClr val="bg1"/>
                </a:solidFill>
                <a:latin typeface="Times New Roman" pitchFamily="18" charset="0"/>
                <a:cs typeface="Times New Roman" pitchFamily="18" charset="0"/>
              </a:rPr>
              <a:t>Progressive Web Application (PWA) </a:t>
            </a:r>
            <a:r>
              <a:rPr lang="en-US" sz="2400" dirty="0" smtClean="0">
                <a:solidFill>
                  <a:schemeClr val="bg1"/>
                </a:solidFill>
                <a:latin typeface="Times New Roman" pitchFamily="18" charset="0"/>
                <a:cs typeface="Times New Roman" pitchFamily="18" charset="0"/>
              </a:rPr>
              <a:t>Conversion.</a:t>
            </a:r>
          </a:p>
          <a:p>
            <a:pPr>
              <a:buNone/>
            </a:pPr>
            <a:endParaRPr lang="en-US" sz="2400" dirty="0" smtClean="0">
              <a:solidFill>
                <a:schemeClr val="bg1"/>
              </a:solidFill>
              <a:latin typeface="Times New Roman" pitchFamily="18" charset="0"/>
              <a:cs typeface="Times New Roman" pitchFamily="18" charset="0"/>
            </a:endParaRPr>
          </a:p>
          <a:p>
            <a:pPr>
              <a:buNone/>
            </a:pPr>
            <a:r>
              <a:rPr lang="en-IN" sz="2400" dirty="0">
                <a:solidFill>
                  <a:schemeClr val="bg1"/>
                </a:solidFill>
                <a:latin typeface="Times New Roman" pitchFamily="18" charset="0"/>
                <a:cs typeface="Times New Roman" pitchFamily="18" charset="0"/>
              </a:rPr>
              <a:t> </a:t>
            </a:r>
            <a:r>
              <a:rPr lang="en-IN" sz="2400" dirty="0" smtClean="0">
                <a:solidFill>
                  <a:schemeClr val="bg1"/>
                </a:solidFill>
                <a:latin typeface="Times New Roman" pitchFamily="18" charset="0"/>
                <a:cs typeface="Times New Roman" pitchFamily="18" charset="0"/>
              </a:rPr>
              <a:t>           6. </a:t>
            </a:r>
            <a:r>
              <a:rPr lang="en-US" sz="2400" dirty="0">
                <a:solidFill>
                  <a:schemeClr val="bg1"/>
                </a:solidFill>
                <a:latin typeface="Times New Roman" pitchFamily="18" charset="0"/>
                <a:cs typeface="Times New Roman" pitchFamily="18" charset="0"/>
              </a:rPr>
              <a:t>API </a:t>
            </a:r>
            <a:r>
              <a:rPr lang="en-US" sz="2400" dirty="0" smtClean="0">
                <a:solidFill>
                  <a:schemeClr val="bg1"/>
                </a:solidFill>
                <a:latin typeface="Times New Roman" pitchFamily="18" charset="0"/>
                <a:cs typeface="Times New Roman" pitchFamily="18" charset="0"/>
              </a:rPr>
              <a:t>Integrations.</a:t>
            </a:r>
            <a:endParaRPr lang="en-US" sz="2400" dirty="0">
              <a:solidFill>
                <a:schemeClr val="bg1"/>
              </a:solidFill>
              <a:latin typeface="Times New Roman" pitchFamily="18" charset="0"/>
              <a:cs typeface="Times New Roman" pitchFamily="18" charset="0"/>
            </a:endParaRPr>
          </a:p>
          <a:p>
            <a:pPr>
              <a:buFont typeface="Wingdings" pitchFamily="2" charset="2"/>
              <a:buChar char="q"/>
            </a:pPr>
            <a:endParaRPr lang="en-US" dirty="0"/>
          </a:p>
        </p:txBody>
      </p:sp>
    </p:spTree>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083320"/>
          </a:xfrm>
        </p:spPr>
        <p:txBody>
          <a:bodyPr/>
          <a:lstStyle/>
          <a:p>
            <a:r>
              <a:rPr lang="en-IN" b="1" dirty="0" smtClean="0">
                <a:solidFill>
                  <a:schemeClr val="accent3"/>
                </a:solidFill>
                <a:latin typeface="Times New Roman" pitchFamily="18" charset="0"/>
                <a:cs typeface="Times New Roman" pitchFamily="18" charset="0"/>
              </a:rPr>
              <a:t>Thank you!</a:t>
            </a:r>
            <a:endParaRPr lang="en-US" b="1" dirty="0">
              <a:solidFill>
                <a:schemeClr val="accent3"/>
              </a:solidFill>
              <a:latin typeface="Times New Roman" pitchFamily="18" charset="0"/>
              <a:cs typeface="Times New Roman" pitchFamily="18" charset="0"/>
            </a:endParaRPr>
          </a:p>
        </p:txBody>
      </p:sp>
    </p:spTree>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Office Theme">
  <a:themeElements>
    <a:clrScheme name="Custom 3">
      <a:dk1>
        <a:srgbClr val="5B3113"/>
      </a:dk1>
      <a:lt1>
        <a:sysClr val="window" lastClr="FFFFFF"/>
      </a:lt1>
      <a:dk2>
        <a:srgbClr val="EFBFC2"/>
      </a:dk2>
      <a:lt2>
        <a:srgbClr val="5B3113"/>
      </a:lt2>
      <a:accent1>
        <a:srgbClr val="FFDBDD"/>
      </a:accent1>
      <a:accent2>
        <a:srgbClr val="B08F7A"/>
      </a:accent2>
      <a:accent3>
        <a:srgbClr val="A7626B"/>
      </a:accent3>
      <a:accent4>
        <a:srgbClr val="E6D2B9"/>
      </a:accent4>
      <a:accent5>
        <a:srgbClr val="CB8D95"/>
      </a:accent5>
      <a:accent6>
        <a:srgbClr val="B08F7A"/>
      </a:accent6>
      <a:hlink>
        <a:srgbClr val="A7626B"/>
      </a:hlink>
      <a:folHlink>
        <a:srgbClr val="B08F7A"/>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249</TotalTime>
  <Words>1084</Words>
  <Application>Microsoft Office PowerPoint</Application>
  <PresentationFormat>On-screen Show (4:3)</PresentationFormat>
  <Paragraphs>53</Paragraphs>
  <Slides>14</Slides>
  <Notes>8</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NOVA</vt:lpstr>
      <vt:lpstr>Introduction</vt:lpstr>
      <vt:lpstr>Project Objectives</vt:lpstr>
      <vt:lpstr>Scope of the Project</vt:lpstr>
      <vt:lpstr>  Methodology  </vt:lpstr>
      <vt:lpstr>Agile SDLC Approach  </vt:lpstr>
      <vt:lpstr>Phase 1 — GUI Design and Wire-framing      </vt:lpstr>
      <vt:lpstr>Phase 2 — Core HTML/CSS Implementation  </vt:lpstr>
      <vt:lpstr>Phase 3 — JavaScript Interactivity</vt:lpstr>
      <vt:lpstr>Phase 4 — Testing, Validation, and Deployment  </vt:lpstr>
      <vt:lpstr> Tech Stack  </vt:lpstr>
      <vt:lpstr>Deliverables</vt:lpstr>
      <vt:lpstr>Future Scope</vt:lpstr>
      <vt:lpstr>Thank you!</vt:lpstr>
    </vt:vector>
  </TitlesOfParts>
  <Company>HP</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hp</dc:creator>
  <cp:lastModifiedBy>hp</cp:lastModifiedBy>
  <cp:revision>23</cp:revision>
  <dcterms:created xsi:type="dcterms:W3CDTF">2026-06-06T16:07:53Z</dcterms:created>
  <dcterms:modified xsi:type="dcterms:W3CDTF">2026-06-06T20:17:49Z</dcterms:modified>
</cp:coreProperties>
</file>